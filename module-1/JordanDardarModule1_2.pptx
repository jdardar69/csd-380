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7A389-BD65-4A33-A6BC-B0CA00E1954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964566-B294-4649-BF0D-F71B7B847D41}">
      <dgm:prSet phldrT="[Text]" phldr="0"/>
      <dgm:spPr/>
      <dgm:t>
        <a:bodyPr/>
        <a:lstStyle/>
        <a:p>
          <a:r>
            <a:rPr lang="en-US" dirty="0"/>
            <a:t>Idea</a:t>
          </a:r>
        </a:p>
      </dgm:t>
    </dgm:pt>
    <dgm:pt modelId="{C59A5962-D151-4DD3-B4C6-C56E4549D438}" type="parTrans" cxnId="{077D30E1-A3A2-47B7-840E-337980CD7AF1}">
      <dgm:prSet/>
      <dgm:spPr/>
      <dgm:t>
        <a:bodyPr/>
        <a:lstStyle/>
        <a:p>
          <a:endParaRPr lang="en-US"/>
        </a:p>
      </dgm:t>
    </dgm:pt>
    <dgm:pt modelId="{88FAEC50-42A9-4BE4-9DBD-BBE0465CF436}" type="sibTrans" cxnId="{077D30E1-A3A2-47B7-840E-337980CD7AF1}">
      <dgm:prSet/>
      <dgm:spPr/>
      <dgm:t>
        <a:bodyPr/>
        <a:lstStyle/>
        <a:p>
          <a:endParaRPr lang="en-US"/>
        </a:p>
      </dgm:t>
    </dgm:pt>
    <dgm:pt modelId="{CEB9FC50-6FCF-469E-BE17-899A2D067F8A}">
      <dgm:prSet phldrT="[Text]" phldr="0"/>
      <dgm:spPr/>
      <dgm:t>
        <a:bodyPr/>
        <a:lstStyle/>
        <a:p>
          <a:r>
            <a:rPr lang="en-US" dirty="0"/>
            <a:t>Plan</a:t>
          </a:r>
        </a:p>
      </dgm:t>
    </dgm:pt>
    <dgm:pt modelId="{F37979C1-AAB8-4E86-8193-C9DFA33608A1}" type="parTrans" cxnId="{6D6095DF-E2CE-4528-AF00-692DBE1D1792}">
      <dgm:prSet/>
      <dgm:spPr/>
      <dgm:t>
        <a:bodyPr/>
        <a:lstStyle/>
        <a:p>
          <a:endParaRPr lang="en-US"/>
        </a:p>
      </dgm:t>
    </dgm:pt>
    <dgm:pt modelId="{E2AC3906-B214-4671-B8CB-0C8105E47192}" type="sibTrans" cxnId="{6D6095DF-E2CE-4528-AF00-692DBE1D1792}">
      <dgm:prSet/>
      <dgm:spPr/>
      <dgm:t>
        <a:bodyPr/>
        <a:lstStyle/>
        <a:p>
          <a:endParaRPr lang="en-US"/>
        </a:p>
      </dgm:t>
    </dgm:pt>
    <dgm:pt modelId="{93A2ACE4-2516-49E7-BC20-76494D04D3F8}">
      <dgm:prSet phldrT="[Text]" phldr="0"/>
      <dgm:spPr/>
      <dgm:t>
        <a:bodyPr/>
        <a:lstStyle/>
        <a:p>
          <a:r>
            <a:rPr lang="en-US" dirty="0"/>
            <a:t>Develop</a:t>
          </a:r>
        </a:p>
      </dgm:t>
    </dgm:pt>
    <dgm:pt modelId="{DBF7586F-5BF3-4FCA-A95E-A647F7371108}" type="parTrans" cxnId="{EFE1DECA-A236-4F76-A57F-5A51C2EFBF1B}">
      <dgm:prSet/>
      <dgm:spPr/>
      <dgm:t>
        <a:bodyPr/>
        <a:lstStyle/>
        <a:p>
          <a:endParaRPr lang="en-US"/>
        </a:p>
      </dgm:t>
    </dgm:pt>
    <dgm:pt modelId="{948C3E73-C5E1-481E-81FA-00DF7FC64666}" type="sibTrans" cxnId="{EFE1DECA-A236-4F76-A57F-5A51C2EFBF1B}">
      <dgm:prSet/>
      <dgm:spPr/>
      <dgm:t>
        <a:bodyPr/>
        <a:lstStyle/>
        <a:p>
          <a:endParaRPr lang="en-US"/>
        </a:p>
      </dgm:t>
    </dgm:pt>
    <dgm:pt modelId="{6D6A7280-461B-452B-92ED-83E76C18CE46}">
      <dgm:prSet phldrT="[Text]" phldr="0"/>
      <dgm:spPr/>
      <dgm:t>
        <a:bodyPr/>
        <a:lstStyle/>
        <a:p>
          <a:r>
            <a:rPr lang="en-US" dirty="0"/>
            <a:t>Test</a:t>
          </a:r>
        </a:p>
      </dgm:t>
    </dgm:pt>
    <dgm:pt modelId="{B01047BC-0E82-4050-8C15-8573C5417264}" type="parTrans" cxnId="{5058C5BA-4D16-465D-BB90-27DB8153B510}">
      <dgm:prSet/>
      <dgm:spPr/>
      <dgm:t>
        <a:bodyPr/>
        <a:lstStyle/>
        <a:p>
          <a:endParaRPr lang="en-US"/>
        </a:p>
      </dgm:t>
    </dgm:pt>
    <dgm:pt modelId="{351C3D9C-8DB5-4775-94C7-76B7D79759BE}" type="sibTrans" cxnId="{5058C5BA-4D16-465D-BB90-27DB8153B510}">
      <dgm:prSet/>
      <dgm:spPr/>
      <dgm:t>
        <a:bodyPr/>
        <a:lstStyle/>
        <a:p>
          <a:endParaRPr lang="en-US"/>
        </a:p>
      </dgm:t>
    </dgm:pt>
    <dgm:pt modelId="{B0EA80E2-DE9D-4E6E-903E-FEB82AF4E7DC}">
      <dgm:prSet phldrT="[Text]" phldr="0"/>
      <dgm:spPr/>
      <dgm:t>
        <a:bodyPr/>
        <a:lstStyle/>
        <a:p>
          <a:r>
            <a:rPr lang="en-US"/>
            <a:t>Deploy</a:t>
          </a:r>
          <a:endParaRPr lang="en-US" dirty="0"/>
        </a:p>
      </dgm:t>
    </dgm:pt>
    <dgm:pt modelId="{1CB8FA35-C03F-4967-95D1-84A028204714}" type="parTrans" cxnId="{024B6E70-B90D-400C-9558-D3B6AEF53183}">
      <dgm:prSet/>
      <dgm:spPr/>
      <dgm:t>
        <a:bodyPr/>
        <a:lstStyle/>
        <a:p>
          <a:endParaRPr lang="en-US"/>
        </a:p>
      </dgm:t>
    </dgm:pt>
    <dgm:pt modelId="{37187CE5-B452-436B-8C6D-EB093AC6EDD2}" type="sibTrans" cxnId="{024B6E70-B90D-400C-9558-D3B6AEF53183}">
      <dgm:prSet/>
      <dgm:spPr/>
      <dgm:t>
        <a:bodyPr/>
        <a:lstStyle/>
        <a:p>
          <a:endParaRPr lang="en-US"/>
        </a:p>
      </dgm:t>
    </dgm:pt>
    <dgm:pt modelId="{E755BEAC-8476-4662-B3C5-CD91658C99FF}">
      <dgm:prSet phldrT="[Text]" phldr="0"/>
      <dgm:spPr/>
      <dgm:t>
        <a:bodyPr/>
        <a:lstStyle/>
        <a:p>
          <a:r>
            <a:rPr lang="en-US" dirty="0"/>
            <a:t>Customer</a:t>
          </a:r>
        </a:p>
      </dgm:t>
    </dgm:pt>
    <dgm:pt modelId="{AC81D1D4-AD77-4ED5-9D04-6781FC4D2B43}" type="parTrans" cxnId="{C641FC29-6162-4758-8B59-B70ACADB3BA6}">
      <dgm:prSet/>
      <dgm:spPr/>
      <dgm:t>
        <a:bodyPr/>
        <a:lstStyle/>
        <a:p>
          <a:endParaRPr lang="en-US"/>
        </a:p>
      </dgm:t>
    </dgm:pt>
    <dgm:pt modelId="{45D085ED-7A71-4720-BB2D-6098F940A6CD}" type="sibTrans" cxnId="{C641FC29-6162-4758-8B59-B70ACADB3BA6}">
      <dgm:prSet/>
      <dgm:spPr/>
      <dgm:t>
        <a:bodyPr/>
        <a:lstStyle/>
        <a:p>
          <a:endParaRPr lang="en-US"/>
        </a:p>
      </dgm:t>
    </dgm:pt>
    <dgm:pt modelId="{58F24F72-4164-4800-856A-D3E58A37D078}" type="pres">
      <dgm:prSet presAssocID="{D2B7A389-BD65-4A33-A6BC-B0CA00E1954E}" presName="Name0" presStyleCnt="0">
        <dgm:presLayoutVars>
          <dgm:dir/>
          <dgm:animLvl val="lvl"/>
          <dgm:resizeHandles val="exact"/>
        </dgm:presLayoutVars>
      </dgm:prSet>
      <dgm:spPr/>
    </dgm:pt>
    <dgm:pt modelId="{693B826E-68AD-418A-90C6-DBE541AE3A4E}" type="pres">
      <dgm:prSet presAssocID="{BE964566-B294-4649-BF0D-F71B7B847D4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28D2FB85-68D7-4DA5-9621-7E7CC68736EF}" type="pres">
      <dgm:prSet presAssocID="{88FAEC50-42A9-4BE4-9DBD-BBE0465CF436}" presName="parTxOnlySpace" presStyleCnt="0"/>
      <dgm:spPr/>
    </dgm:pt>
    <dgm:pt modelId="{A7E61C9F-D2FB-4FB1-A053-5C328300081E}" type="pres">
      <dgm:prSet presAssocID="{CEB9FC50-6FCF-469E-BE17-899A2D067F8A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8607B261-5D02-46E6-AAE4-B446FDACF5E3}" type="pres">
      <dgm:prSet presAssocID="{E2AC3906-B214-4671-B8CB-0C8105E47192}" presName="parTxOnlySpace" presStyleCnt="0"/>
      <dgm:spPr/>
    </dgm:pt>
    <dgm:pt modelId="{EC8BAB09-784E-4642-BA30-AFE1423476D5}" type="pres">
      <dgm:prSet presAssocID="{93A2ACE4-2516-49E7-BC20-76494D04D3F8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4CF9E98-8AC6-49ED-A18C-D1D6A8D1CF79}" type="pres">
      <dgm:prSet presAssocID="{948C3E73-C5E1-481E-81FA-00DF7FC64666}" presName="parTxOnlySpace" presStyleCnt="0"/>
      <dgm:spPr/>
    </dgm:pt>
    <dgm:pt modelId="{367577D2-D422-4806-BE2B-4AF68BB81D0D}" type="pres">
      <dgm:prSet presAssocID="{6D6A7280-461B-452B-92ED-83E76C18CE46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5B0F1FC-C64D-43C3-AD61-48C068043C0D}" type="pres">
      <dgm:prSet presAssocID="{351C3D9C-8DB5-4775-94C7-76B7D79759BE}" presName="parTxOnlySpace" presStyleCnt="0"/>
      <dgm:spPr/>
    </dgm:pt>
    <dgm:pt modelId="{67A700BC-9EE8-4633-92F7-80C28D89EE37}" type="pres">
      <dgm:prSet presAssocID="{B0EA80E2-DE9D-4E6E-903E-FEB82AF4E7DC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1584F62-5E91-49D7-97D0-3FCC91D1C714}" type="pres">
      <dgm:prSet presAssocID="{37187CE5-B452-436B-8C6D-EB093AC6EDD2}" presName="parTxOnlySpace" presStyleCnt="0"/>
      <dgm:spPr/>
    </dgm:pt>
    <dgm:pt modelId="{9FCAA3B1-4921-4F71-951B-7D2D678975EC}" type="pres">
      <dgm:prSet presAssocID="{E755BEAC-8476-4662-B3C5-CD91658C99FF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12CB40A-65EE-4A87-883A-64D3E48E6965}" type="presOf" srcId="{BE964566-B294-4649-BF0D-F71B7B847D41}" destId="{693B826E-68AD-418A-90C6-DBE541AE3A4E}" srcOrd="0" destOrd="0" presId="urn:microsoft.com/office/officeart/2005/8/layout/chevron1"/>
    <dgm:cxn modelId="{FF7FB023-7CDA-4BC8-BB11-39FEC1FC95A4}" type="presOf" srcId="{93A2ACE4-2516-49E7-BC20-76494D04D3F8}" destId="{EC8BAB09-784E-4642-BA30-AFE1423476D5}" srcOrd="0" destOrd="0" presId="urn:microsoft.com/office/officeart/2005/8/layout/chevron1"/>
    <dgm:cxn modelId="{C641FC29-6162-4758-8B59-B70ACADB3BA6}" srcId="{D2B7A389-BD65-4A33-A6BC-B0CA00E1954E}" destId="{E755BEAC-8476-4662-B3C5-CD91658C99FF}" srcOrd="5" destOrd="0" parTransId="{AC81D1D4-AD77-4ED5-9D04-6781FC4D2B43}" sibTransId="{45D085ED-7A71-4720-BB2D-6098F940A6CD}"/>
    <dgm:cxn modelId="{EAE92B2B-0832-46CA-84A2-26D7D4A50ABC}" type="presOf" srcId="{CEB9FC50-6FCF-469E-BE17-899A2D067F8A}" destId="{A7E61C9F-D2FB-4FB1-A053-5C328300081E}" srcOrd="0" destOrd="0" presId="urn:microsoft.com/office/officeart/2005/8/layout/chevron1"/>
    <dgm:cxn modelId="{5AAE1A2E-336B-4F88-9B27-12BE99D043BC}" type="presOf" srcId="{6D6A7280-461B-452B-92ED-83E76C18CE46}" destId="{367577D2-D422-4806-BE2B-4AF68BB81D0D}" srcOrd="0" destOrd="0" presId="urn:microsoft.com/office/officeart/2005/8/layout/chevron1"/>
    <dgm:cxn modelId="{2C65C341-8A30-41F7-81C1-9E1A9070F2C9}" type="presOf" srcId="{E755BEAC-8476-4662-B3C5-CD91658C99FF}" destId="{9FCAA3B1-4921-4F71-951B-7D2D678975EC}" srcOrd="0" destOrd="0" presId="urn:microsoft.com/office/officeart/2005/8/layout/chevron1"/>
    <dgm:cxn modelId="{024B6E70-B90D-400C-9558-D3B6AEF53183}" srcId="{D2B7A389-BD65-4A33-A6BC-B0CA00E1954E}" destId="{B0EA80E2-DE9D-4E6E-903E-FEB82AF4E7DC}" srcOrd="4" destOrd="0" parTransId="{1CB8FA35-C03F-4967-95D1-84A028204714}" sibTransId="{37187CE5-B452-436B-8C6D-EB093AC6EDD2}"/>
    <dgm:cxn modelId="{5058C5BA-4D16-465D-BB90-27DB8153B510}" srcId="{D2B7A389-BD65-4A33-A6BC-B0CA00E1954E}" destId="{6D6A7280-461B-452B-92ED-83E76C18CE46}" srcOrd="3" destOrd="0" parTransId="{B01047BC-0E82-4050-8C15-8573C5417264}" sibTransId="{351C3D9C-8DB5-4775-94C7-76B7D79759BE}"/>
    <dgm:cxn modelId="{EFE1DECA-A236-4F76-A57F-5A51C2EFBF1B}" srcId="{D2B7A389-BD65-4A33-A6BC-B0CA00E1954E}" destId="{93A2ACE4-2516-49E7-BC20-76494D04D3F8}" srcOrd="2" destOrd="0" parTransId="{DBF7586F-5BF3-4FCA-A95E-A647F7371108}" sibTransId="{948C3E73-C5E1-481E-81FA-00DF7FC64666}"/>
    <dgm:cxn modelId="{DD89BAD9-62D4-4F20-B37D-0A01791AA4FC}" type="presOf" srcId="{B0EA80E2-DE9D-4E6E-903E-FEB82AF4E7DC}" destId="{67A700BC-9EE8-4633-92F7-80C28D89EE37}" srcOrd="0" destOrd="0" presId="urn:microsoft.com/office/officeart/2005/8/layout/chevron1"/>
    <dgm:cxn modelId="{6D6095DF-E2CE-4528-AF00-692DBE1D1792}" srcId="{D2B7A389-BD65-4A33-A6BC-B0CA00E1954E}" destId="{CEB9FC50-6FCF-469E-BE17-899A2D067F8A}" srcOrd="1" destOrd="0" parTransId="{F37979C1-AAB8-4E86-8193-C9DFA33608A1}" sibTransId="{E2AC3906-B214-4671-B8CB-0C8105E47192}"/>
    <dgm:cxn modelId="{077D30E1-A3A2-47B7-840E-337980CD7AF1}" srcId="{D2B7A389-BD65-4A33-A6BC-B0CA00E1954E}" destId="{BE964566-B294-4649-BF0D-F71B7B847D41}" srcOrd="0" destOrd="0" parTransId="{C59A5962-D151-4DD3-B4C6-C56E4549D438}" sibTransId="{88FAEC50-42A9-4BE4-9DBD-BBE0465CF436}"/>
    <dgm:cxn modelId="{657C64ED-47ED-42AF-A61F-AC27C64AA36A}" type="presOf" srcId="{D2B7A389-BD65-4A33-A6BC-B0CA00E1954E}" destId="{58F24F72-4164-4800-856A-D3E58A37D078}" srcOrd="0" destOrd="0" presId="urn:microsoft.com/office/officeart/2005/8/layout/chevron1"/>
    <dgm:cxn modelId="{7550FDB1-6095-454C-9477-40F55EFB265E}" type="presParOf" srcId="{58F24F72-4164-4800-856A-D3E58A37D078}" destId="{693B826E-68AD-418A-90C6-DBE541AE3A4E}" srcOrd="0" destOrd="0" presId="urn:microsoft.com/office/officeart/2005/8/layout/chevron1"/>
    <dgm:cxn modelId="{6C880A49-8CAF-412E-ADD0-A532C679B90A}" type="presParOf" srcId="{58F24F72-4164-4800-856A-D3E58A37D078}" destId="{28D2FB85-68D7-4DA5-9621-7E7CC68736EF}" srcOrd="1" destOrd="0" presId="urn:microsoft.com/office/officeart/2005/8/layout/chevron1"/>
    <dgm:cxn modelId="{FEB02F47-CE03-4A19-A366-B6F0749C6D1E}" type="presParOf" srcId="{58F24F72-4164-4800-856A-D3E58A37D078}" destId="{A7E61C9F-D2FB-4FB1-A053-5C328300081E}" srcOrd="2" destOrd="0" presId="urn:microsoft.com/office/officeart/2005/8/layout/chevron1"/>
    <dgm:cxn modelId="{44E846CF-2C88-4A19-9927-1E0D0772D403}" type="presParOf" srcId="{58F24F72-4164-4800-856A-D3E58A37D078}" destId="{8607B261-5D02-46E6-AAE4-B446FDACF5E3}" srcOrd="3" destOrd="0" presId="urn:microsoft.com/office/officeart/2005/8/layout/chevron1"/>
    <dgm:cxn modelId="{A67F44E3-64B0-42E7-B0A3-04E68F8F31DE}" type="presParOf" srcId="{58F24F72-4164-4800-856A-D3E58A37D078}" destId="{EC8BAB09-784E-4642-BA30-AFE1423476D5}" srcOrd="4" destOrd="0" presId="urn:microsoft.com/office/officeart/2005/8/layout/chevron1"/>
    <dgm:cxn modelId="{5CDE1FC9-787A-4BDB-81C7-2E03800913CF}" type="presParOf" srcId="{58F24F72-4164-4800-856A-D3E58A37D078}" destId="{94CF9E98-8AC6-49ED-A18C-D1D6A8D1CF79}" srcOrd="5" destOrd="0" presId="urn:microsoft.com/office/officeart/2005/8/layout/chevron1"/>
    <dgm:cxn modelId="{AE60EC8C-44E6-4409-A0A7-AB0344648C64}" type="presParOf" srcId="{58F24F72-4164-4800-856A-D3E58A37D078}" destId="{367577D2-D422-4806-BE2B-4AF68BB81D0D}" srcOrd="6" destOrd="0" presId="urn:microsoft.com/office/officeart/2005/8/layout/chevron1"/>
    <dgm:cxn modelId="{6FF303F8-750D-40D7-A8E2-A37537360AA7}" type="presParOf" srcId="{58F24F72-4164-4800-856A-D3E58A37D078}" destId="{45B0F1FC-C64D-43C3-AD61-48C068043C0D}" srcOrd="7" destOrd="0" presId="urn:microsoft.com/office/officeart/2005/8/layout/chevron1"/>
    <dgm:cxn modelId="{F652FE6C-10BE-4687-8919-5F519C29E237}" type="presParOf" srcId="{58F24F72-4164-4800-856A-D3E58A37D078}" destId="{67A700BC-9EE8-4633-92F7-80C28D89EE37}" srcOrd="8" destOrd="0" presId="urn:microsoft.com/office/officeart/2005/8/layout/chevron1"/>
    <dgm:cxn modelId="{73C331DD-9FC9-42B8-B178-4B782514C42A}" type="presParOf" srcId="{58F24F72-4164-4800-856A-D3E58A37D078}" destId="{21584F62-5E91-49D7-97D0-3FCC91D1C714}" srcOrd="9" destOrd="0" presId="urn:microsoft.com/office/officeart/2005/8/layout/chevron1"/>
    <dgm:cxn modelId="{170F7C83-2840-4F63-97A0-AD8A9471EF42}" type="presParOf" srcId="{58F24F72-4164-4800-856A-D3E58A37D078}" destId="{9FCAA3B1-4921-4F71-951B-7D2D678975EC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B826E-68AD-418A-90C6-DBE541AE3A4E}">
      <dsp:nvSpPr>
        <dsp:cNvPr id="0" name=""/>
        <dsp:cNvSpPr/>
      </dsp:nvSpPr>
      <dsp:spPr>
        <a:xfrm>
          <a:off x="5652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Idea</a:t>
          </a:r>
        </a:p>
      </dsp:txBody>
      <dsp:txXfrm>
        <a:off x="426184" y="1533841"/>
        <a:ext cx="1261597" cy="841064"/>
      </dsp:txXfrm>
    </dsp:sp>
    <dsp:sp modelId="{A7E61C9F-D2FB-4FB1-A053-5C328300081E}">
      <dsp:nvSpPr>
        <dsp:cNvPr id="0" name=""/>
        <dsp:cNvSpPr/>
      </dsp:nvSpPr>
      <dsp:spPr>
        <a:xfrm>
          <a:off x="1898047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Plan</a:t>
          </a:r>
        </a:p>
      </dsp:txBody>
      <dsp:txXfrm>
        <a:off x="2318579" y="1533841"/>
        <a:ext cx="1261597" cy="841064"/>
      </dsp:txXfrm>
    </dsp:sp>
    <dsp:sp modelId="{EC8BAB09-784E-4642-BA30-AFE1423476D5}">
      <dsp:nvSpPr>
        <dsp:cNvPr id="0" name=""/>
        <dsp:cNvSpPr/>
      </dsp:nvSpPr>
      <dsp:spPr>
        <a:xfrm>
          <a:off x="3790443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Develop</a:t>
          </a:r>
        </a:p>
      </dsp:txBody>
      <dsp:txXfrm>
        <a:off x="4210975" y="1533841"/>
        <a:ext cx="1261597" cy="841064"/>
      </dsp:txXfrm>
    </dsp:sp>
    <dsp:sp modelId="{367577D2-D422-4806-BE2B-4AF68BB81D0D}">
      <dsp:nvSpPr>
        <dsp:cNvPr id="0" name=""/>
        <dsp:cNvSpPr/>
      </dsp:nvSpPr>
      <dsp:spPr>
        <a:xfrm>
          <a:off x="5682838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Test</a:t>
          </a:r>
        </a:p>
      </dsp:txBody>
      <dsp:txXfrm>
        <a:off x="6103370" y="1533841"/>
        <a:ext cx="1261597" cy="841064"/>
      </dsp:txXfrm>
    </dsp:sp>
    <dsp:sp modelId="{67A700BC-9EE8-4633-92F7-80C28D89EE37}">
      <dsp:nvSpPr>
        <dsp:cNvPr id="0" name=""/>
        <dsp:cNvSpPr/>
      </dsp:nvSpPr>
      <dsp:spPr>
        <a:xfrm>
          <a:off x="7575233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Deploy</a:t>
          </a:r>
          <a:endParaRPr lang="en-US" sz="2000" kern="1200" dirty="0"/>
        </a:p>
      </dsp:txBody>
      <dsp:txXfrm>
        <a:off x="7995765" y="1533841"/>
        <a:ext cx="1261597" cy="841064"/>
      </dsp:txXfrm>
    </dsp:sp>
    <dsp:sp modelId="{9FCAA3B1-4921-4F71-951B-7D2D678975EC}">
      <dsp:nvSpPr>
        <dsp:cNvPr id="0" name=""/>
        <dsp:cNvSpPr/>
      </dsp:nvSpPr>
      <dsp:spPr>
        <a:xfrm>
          <a:off x="9467629" y="1533841"/>
          <a:ext cx="2102661" cy="8410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Customer</a:t>
          </a:r>
        </a:p>
      </dsp:txBody>
      <dsp:txXfrm>
        <a:off x="9888161" y="1533841"/>
        <a:ext cx="1261597" cy="841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E027C-D506-4AF8-B20E-6FE001912F8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029C3-6AEE-4B9E-A82C-A6D88F75A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6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technology value stream shows every step involved in creating and delivering software. DevOps focuses on improving this flow so organizations can deliver value to customers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10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illustrates how work moves through the technology value stream. Each stage contributes to delivering value to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6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Lead time measures the customer's perspective. It begins when a request is made and ends when the customer receives the finished product.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2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Processing time only measures actual work being performed. It is usually much smaller than total lead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4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Organizations often discover that work spends more time waiting than being actively worked on. DevOps seeks to reduce these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0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DevOps became common, software releases frequently required months of preparation and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30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DevOps goal is to make software deployment fast, reliable, and repeatable through automation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05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Organizations that can deliver updates quickly gain a competitive advantage and can respond to customer needs more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29C3-6AEE-4B9E-A82C-A6D88F75A6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42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B39C-16E2-EDFA-2DB9-660EB0729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5B2A7-A8A4-2721-6F60-D80515D69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2D2A-3717-6185-D115-454C85A6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F545-4F34-6DA6-E2B8-4E2849BD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58726-0A6D-71F9-3A64-2E9E2FC8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0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EF46-6C73-E7D5-B50E-015BE6A2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A7F5-FAB1-03E9-1E84-2868FEA0E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887CC-590B-5658-BC3F-633327E53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7DC03-6BCB-2388-BD99-AA62F392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52ACB-E20E-D998-17CB-7C15CAB5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1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3E77-F78B-FBED-B68B-8FFA620B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BC5A-55ED-1B65-7CCC-DE39FEEA3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0EE0-071F-4F1E-4E2A-7E052A88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9FF51-58B9-B3EE-49DD-13493F75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EBEE7-3CF6-79E0-0283-0A8C85AD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0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6D36-E22A-7DBC-7412-97AFB877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52FC7-389F-6CB6-B14D-84A682582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C052E-9F73-EE24-8BF3-588B015A6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7D4E3-D3F4-E506-6FCD-131AB8DC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22C23-4636-368D-18E7-E66CCB99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386C0-3C80-79C8-1684-A09136B1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AACB-3716-D970-65EE-A5F72075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D01C0-F574-8B30-4128-F0CCA9E21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CE2A3-A788-5E6E-0423-C34128B67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4F15B-C191-E6FC-AF7B-D245F50DA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2B4C8-BF4B-C58C-0ED1-BFCE6EB35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526B6-89C9-4D48-219B-87CFE4B6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1D8B8-4DF8-D381-4251-24FA8A7D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627AA-D58E-2C5F-4CE9-B7BCAB06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8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2DB-069B-C132-3DED-5F508D06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9BCFE2-3392-E930-B4BD-01E9F0B1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55637-06C6-5D9C-DD1E-A16F812E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60740-DA53-3786-FAF9-CEB5B80D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8C354-C8FA-792B-3190-9292DC23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F9149-AC0B-2C2B-3ECE-11E296F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CC20B-C715-9A62-D444-9A266F8C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79AE-F8AE-22EC-B71C-8A45A00A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0376-2DCE-5413-60FA-7C6C27156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AA7BC-C4C7-4749-2EE6-5E2FA9F0C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7A9FB-83BC-8116-599E-A6D59EB5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4F653-FC81-F545-CC69-66708D34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20E60-8DDD-28C7-C5D7-4B22EFF6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5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335F-DCF3-B2EB-48FD-EC802D7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AE711-9B66-99AC-C83B-4E3E929FC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F4C5B-B970-4F9B-2BBB-177DC47F2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00C53-959C-8112-2C77-4C7BBE51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ABF-CC3E-5043-9FB2-796596FF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DF876-27E5-DDF4-9E31-CA73C772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FF07-A987-C654-0140-B02C7A83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739BD-EA1F-4390-C696-EB82AAF0D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0ED2B-0266-BFBD-7F01-6F780B25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C39DA-D95E-29AE-065E-D7E1445D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93F0-0903-9CF6-C602-23D3AD32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9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E03F9-904E-C0D7-CCBA-6B2C3F194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9F3C9-B23F-CA99-DAD3-418DA205E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EBDB8-8D59-086F-5F14-8D075A5C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69AD9-59F2-B10D-8A62-74C67EF6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3C9D-7373-C64E-63D9-289182F9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9CD98-5B9F-793D-BE79-004CF9EF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87EB8-9AD9-15D9-7BC1-7F6EE81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626A0-7055-AB4C-5DED-1C755EA18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D13AB-7686-4342-9C95-24F993F0D3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FFF78-BAE9-2949-3F14-376F2D2FA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B34A-1952-CBD0-03B1-BE1998272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831F1-5261-4724-A60F-7977C8F64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3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073D-9311-81F1-D203-F7519525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8547" y="0"/>
            <a:ext cx="12400548" cy="2406316"/>
          </a:xfrm>
        </p:spPr>
        <p:txBody>
          <a:bodyPr/>
          <a:lstStyle/>
          <a:p>
            <a:r>
              <a:rPr lang="en-US" dirty="0"/>
              <a:t>The Technology Value Stream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1E437-980C-2355-B7A5-60B2657F3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Jordan Dardar</a:t>
            </a:r>
            <a:br>
              <a:rPr lang="en-US" dirty="0"/>
            </a:br>
            <a:r>
              <a:rPr lang="en-US" dirty="0"/>
              <a:t>CSD380-308A DevOps</a:t>
            </a:r>
            <a:br>
              <a:rPr lang="en-US" dirty="0"/>
            </a:br>
            <a:r>
              <a:rPr lang="en-US" dirty="0"/>
              <a:t>Module 1.2 Assignment</a:t>
            </a:r>
            <a:br>
              <a:rPr lang="en-US" dirty="0"/>
            </a:br>
            <a:r>
              <a:rPr lang="en-US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17301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BF81-0900-1553-E8EF-09D2876D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484" y="204704"/>
            <a:ext cx="8418095" cy="1325563"/>
          </a:xfrm>
        </p:spPr>
        <p:txBody>
          <a:bodyPr/>
          <a:lstStyle/>
          <a:p>
            <a:r>
              <a:rPr lang="en-US" dirty="0"/>
              <a:t>What is a Technology Value 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6D97-1438-363A-48AE-EFC6EAA92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15" y="1530267"/>
            <a:ext cx="12284242" cy="548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Technology Value Stream represents all activities required to deliver technology products and services from concept to customer.</a:t>
            </a:r>
          </a:p>
          <a:p>
            <a:pPr marL="0" indent="0">
              <a:buNone/>
            </a:pPr>
            <a:r>
              <a:rPr lang="en-US" dirty="0"/>
              <a:t>It includes:</a:t>
            </a:r>
          </a:p>
          <a:p>
            <a:r>
              <a:rPr lang="en-US" dirty="0"/>
              <a:t>Planning </a:t>
            </a:r>
          </a:p>
          <a:p>
            <a:r>
              <a:rPr lang="en-US" dirty="0"/>
              <a:t>Development </a:t>
            </a:r>
          </a:p>
          <a:p>
            <a:r>
              <a:rPr lang="en-US" dirty="0"/>
              <a:t>Testing </a:t>
            </a:r>
          </a:p>
          <a:p>
            <a:r>
              <a:rPr lang="en-US" dirty="0"/>
              <a:t>Deployment </a:t>
            </a:r>
          </a:p>
          <a:p>
            <a:r>
              <a:rPr lang="en-US" dirty="0"/>
              <a:t>Operations </a:t>
            </a:r>
          </a:p>
          <a:p>
            <a:r>
              <a:rPr lang="en-US" dirty="0"/>
              <a:t>Customer Feedback </a:t>
            </a:r>
          </a:p>
          <a:p>
            <a:pPr marL="0" indent="0">
              <a:buNone/>
            </a:pPr>
            <a:r>
              <a:rPr lang="en-US" dirty="0"/>
              <a:t>The goal is to improve flow, eliminate waste, and deliver value faster.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3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90E6-C51C-1D04-2E0C-36190710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0"/>
            <a:ext cx="8001000" cy="934286"/>
          </a:xfrm>
        </p:spPr>
        <p:txBody>
          <a:bodyPr/>
          <a:lstStyle/>
          <a:p>
            <a:r>
              <a:rPr lang="en-US" dirty="0"/>
              <a:t>Technology Value Stream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018CB6-4E2D-BBF5-2A6C-A699A89B97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367628"/>
              </p:ext>
            </p:extLst>
          </p:nvPr>
        </p:nvGraphicFramePr>
        <p:xfrm>
          <a:off x="308028" y="-710635"/>
          <a:ext cx="11575943" cy="3908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1F2926-61C6-E8BF-EA92-7DB4E96B37F5}"/>
              </a:ext>
            </a:extLst>
          </p:cNvPr>
          <p:cNvSpPr txBox="1"/>
          <p:nvPr/>
        </p:nvSpPr>
        <p:spPr>
          <a:xfrm>
            <a:off x="464949" y="2418279"/>
            <a:ext cx="106473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Benefits: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Faster delivery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Improved quality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Better collaboration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Reduced waste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0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003E-B2B7-D37F-195F-133E1B37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Defining Lead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E988C-4F04-54F6-79CB-46B832CC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151"/>
            <a:ext cx="10515600" cy="53451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Lead Time:</a:t>
            </a:r>
          </a:p>
          <a:p>
            <a:pPr marL="0" indent="0">
              <a:buNone/>
            </a:pPr>
            <a:r>
              <a:rPr lang="en-US" dirty="0"/>
              <a:t>Lead Time is the total amount of time from when work is requested until it is delivered to the customer.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Lead Time includes:</a:t>
            </a:r>
          </a:p>
          <a:p>
            <a:r>
              <a:rPr lang="en-US" dirty="0"/>
              <a:t>Waiting time</a:t>
            </a:r>
          </a:p>
          <a:p>
            <a:r>
              <a:rPr lang="en-US" dirty="0"/>
              <a:t>Queue time</a:t>
            </a:r>
          </a:p>
          <a:p>
            <a:r>
              <a:rPr lang="en-US" dirty="0"/>
              <a:t>Development time</a:t>
            </a:r>
          </a:p>
          <a:p>
            <a:r>
              <a:rPr lang="en-US" dirty="0"/>
              <a:t>Testing time</a:t>
            </a:r>
          </a:p>
          <a:p>
            <a:r>
              <a:rPr lang="en-US" dirty="0"/>
              <a:t>Deployment time</a:t>
            </a:r>
          </a:p>
          <a:p>
            <a:pPr marL="0" indent="0">
              <a:buNone/>
            </a:pPr>
            <a:r>
              <a:rPr lang="en-US" b="1" u="sng" dirty="0"/>
              <a:t>Formula: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Lead Time = Request to Delivery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6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998A-42D1-FE0D-AA7A-48F82CB2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260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Defining Processing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7AD2-BD9B-AFE2-AA1B-E10E8DC0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0803"/>
            <a:ext cx="10515600" cy="5805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Processing Time:</a:t>
            </a:r>
          </a:p>
          <a:p>
            <a:pPr marL="0" indent="0">
              <a:buNone/>
            </a:pPr>
            <a:r>
              <a:rPr lang="en-US" sz="2000" dirty="0"/>
              <a:t>Processing Time is the amount of time spent actively working on a task.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/>
              <a:t>Examples:</a:t>
            </a:r>
          </a:p>
          <a:p>
            <a:r>
              <a:rPr lang="en-US" sz="2000" dirty="0"/>
              <a:t>Coding</a:t>
            </a:r>
          </a:p>
          <a:p>
            <a:r>
              <a:rPr lang="en-US" sz="2000" dirty="0"/>
              <a:t>Testing</a:t>
            </a:r>
          </a:p>
          <a:p>
            <a:r>
              <a:rPr lang="en-US" sz="2000" dirty="0"/>
              <a:t>Reviewing code</a:t>
            </a:r>
          </a:p>
          <a:p>
            <a:r>
              <a:rPr lang="en-US" sz="2000" dirty="0"/>
              <a:t>Deploying software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/>
              <a:t>Processing Time Excludes:</a:t>
            </a:r>
          </a:p>
          <a:p>
            <a:r>
              <a:rPr lang="en-US" sz="2000" dirty="0"/>
              <a:t>Waiting</a:t>
            </a:r>
          </a:p>
          <a:p>
            <a:r>
              <a:rPr lang="en-US" sz="2000" dirty="0"/>
              <a:t>Delays</a:t>
            </a:r>
          </a:p>
          <a:p>
            <a:r>
              <a:rPr lang="en-US" sz="2000" dirty="0"/>
              <a:t>Approvals</a:t>
            </a:r>
          </a:p>
          <a:p>
            <a:r>
              <a:rPr lang="en-US" sz="2000" dirty="0"/>
              <a:t>Queue time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81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B39A-D35F-6017-34E7-34700190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95" y="23101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Lead Time vs. Processing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13363F-9417-0F93-7347-0B6CA3A65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291933"/>
              </p:ext>
            </p:extLst>
          </p:nvPr>
        </p:nvGraphicFramePr>
        <p:xfrm>
          <a:off x="1175658" y="2111035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580466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885047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1280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615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Includes Waiting?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91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Includes Active Work?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00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Focused?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733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Entire Process?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3991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698638-C405-0442-4522-E30733F12B37}"/>
              </a:ext>
            </a:extLst>
          </p:cNvPr>
          <p:cNvSpPr txBox="1"/>
          <p:nvPr/>
        </p:nvSpPr>
        <p:spPr>
          <a:xfrm>
            <a:off x="1175658" y="4386943"/>
            <a:ext cx="9557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Time = 30 Days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 Time = 8 Hours </a:t>
            </a:r>
          </a:p>
          <a:p>
            <a:endParaRPr lang="en-US" dirty="0"/>
          </a:p>
          <a:p>
            <a:r>
              <a:rPr lang="en-US" dirty="0"/>
              <a:t>Most delays occur while work waits between stages.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1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8B5A-060A-513C-5A31-4231B1DE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Scenario – Deployment Lead Times Requiring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CE19-562B-D315-7D33-D0887EFEA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055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Traditional organizations often experience deployment lead times measured in months because of: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Manual processes </a:t>
            </a:r>
          </a:p>
          <a:p>
            <a:r>
              <a:rPr lang="en-US" dirty="0"/>
              <a:t>Approval bottlenecks </a:t>
            </a:r>
          </a:p>
          <a:p>
            <a:r>
              <a:rPr lang="en-US" dirty="0"/>
              <a:t>Large software releases </a:t>
            </a:r>
          </a:p>
          <a:p>
            <a:r>
              <a:rPr lang="en-US" dirty="0"/>
              <a:t>Siloed teams </a:t>
            </a:r>
          </a:p>
          <a:p>
            <a:r>
              <a:rPr lang="en-US" dirty="0"/>
              <a:t>Lengthy testing cycles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Consequences:</a:t>
            </a:r>
          </a:p>
          <a:p>
            <a:r>
              <a:rPr lang="en-US" dirty="0"/>
              <a:t>Slower innovation </a:t>
            </a:r>
          </a:p>
          <a:p>
            <a:r>
              <a:rPr lang="en-US" dirty="0"/>
              <a:t>Increased risk </a:t>
            </a:r>
          </a:p>
          <a:p>
            <a:r>
              <a:rPr lang="en-US" dirty="0"/>
              <a:t>Customer dissatisfaction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A133-6130-CA23-D7F2-4828C0B4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272" y="0"/>
            <a:ext cx="9211056" cy="88760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Our DevOps Ideal – Deployment Lead Times of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AC2A4-5840-C1D8-C8EE-D51CA9022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792352"/>
            <a:ext cx="10515600" cy="56267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DevOps organizations strive for deployment lead times measured in minutes. 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b="1" u="sng" dirty="0"/>
              <a:t>This is achieved through:</a:t>
            </a:r>
          </a:p>
          <a:p>
            <a:r>
              <a:rPr lang="en-US" sz="2400" dirty="0"/>
              <a:t>Continuous Integration (CI)</a:t>
            </a:r>
          </a:p>
          <a:p>
            <a:r>
              <a:rPr lang="en-US" sz="2400" dirty="0"/>
              <a:t>Continuous Delivery (CD)</a:t>
            </a:r>
          </a:p>
          <a:p>
            <a:r>
              <a:rPr lang="en-US" sz="2400" dirty="0"/>
              <a:t>Automation</a:t>
            </a:r>
          </a:p>
          <a:p>
            <a:r>
              <a:rPr lang="en-US" sz="2400" dirty="0"/>
              <a:t>Automated Testing</a:t>
            </a:r>
          </a:p>
          <a:p>
            <a:r>
              <a:rPr lang="en-US" sz="2400" dirty="0"/>
              <a:t>Infrastructure as Code</a:t>
            </a:r>
          </a:p>
          <a:p>
            <a:r>
              <a:rPr lang="en-US" sz="2400" dirty="0"/>
              <a:t>Continuous Monitoring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Benefits:</a:t>
            </a:r>
          </a:p>
          <a:p>
            <a:r>
              <a:rPr lang="en-US" sz="2400" dirty="0"/>
              <a:t>Faster releases</a:t>
            </a:r>
          </a:p>
          <a:p>
            <a:r>
              <a:rPr lang="en-US" sz="2400" dirty="0"/>
              <a:t>Improved reliability</a:t>
            </a:r>
          </a:p>
          <a:p>
            <a:r>
              <a:rPr lang="en-US" sz="2400" dirty="0"/>
              <a:t>Faster customer feedback</a:t>
            </a:r>
          </a:p>
          <a:p>
            <a:pPr marL="0" indent="0">
              <a:buNone/>
            </a:pPr>
            <a:endParaRPr lang="en-US" b="1" u="sng" dirty="0"/>
          </a:p>
          <a:p>
            <a:endParaRPr lang="en-US" b="1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1410-EB7A-0B2B-6BB0-D3470390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24" y="442658"/>
            <a:ext cx="8049768" cy="6315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Why Reducing Lead Time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68711-4CF8-5CD7-ED6D-5F2D63706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88" y="1513140"/>
            <a:ext cx="11184636" cy="5930075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Reducing lead time helps organizations:</a:t>
            </a:r>
          </a:p>
          <a:p>
            <a:r>
              <a:rPr lang="en-US" dirty="0"/>
              <a:t>Deliver customer value faster</a:t>
            </a:r>
          </a:p>
          <a:p>
            <a:r>
              <a:rPr lang="en-US" dirty="0"/>
              <a:t>Improve software quality</a:t>
            </a:r>
          </a:p>
          <a:p>
            <a:r>
              <a:rPr lang="en-US" dirty="0"/>
              <a:t>Reduce deployment risk</a:t>
            </a:r>
          </a:p>
          <a:p>
            <a:r>
              <a:rPr lang="en-US" dirty="0"/>
              <a:t>Respond quickly to market changes</a:t>
            </a:r>
          </a:p>
          <a:p>
            <a:r>
              <a:rPr lang="en-US" dirty="0"/>
              <a:t>Increase customer satisfaction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Companies that deploy frequently often outperform competitors.</a:t>
            </a:r>
          </a:p>
        </p:txBody>
      </p:sp>
    </p:spTree>
    <p:extLst>
      <p:ext uri="{BB962C8B-B14F-4D97-AF65-F5344CB8AC3E}">
        <p14:creationId xmlns:p14="http://schemas.microsoft.com/office/powerpoint/2010/main" val="406817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C491-CB74-F4CE-F45D-0447FC69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0" y="681037"/>
            <a:ext cx="2865120" cy="2475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8DB4-1821-91C4-80F3-D8213668A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Key Takeaways: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Technology Value Streams focus on delivering value efficiently.</a:t>
            </a:r>
          </a:p>
          <a:p>
            <a:r>
              <a:rPr lang="en-US" dirty="0"/>
              <a:t>Lead Time measures total delivery time.</a:t>
            </a:r>
          </a:p>
          <a:p>
            <a:r>
              <a:rPr lang="en-US" dirty="0"/>
              <a:t>Processing Time measures active work time.</a:t>
            </a:r>
          </a:p>
          <a:p>
            <a:r>
              <a:rPr lang="en-US" dirty="0"/>
              <a:t>Traditional deployments may take months.</a:t>
            </a:r>
          </a:p>
          <a:p>
            <a:r>
              <a:rPr lang="en-US" dirty="0"/>
              <a:t>DevOps aims for deployments measured in minutes.</a:t>
            </a:r>
          </a:p>
          <a:p>
            <a:r>
              <a:rPr lang="en-US" dirty="0"/>
              <a:t>Automation and continuous delivery are essential DevOps practices.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21226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5F24-9474-3785-E919-E8791FED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35460-F739-EB54-961A-9BE340E8C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Forsgren, N., Humble, J., &amp; Kim, G. (2018). </a:t>
            </a:r>
            <a:r>
              <a:rPr lang="en-US" i="1" dirty="0"/>
              <a:t>Accelerate: The science of lean software and DevOps</a:t>
            </a:r>
            <a:r>
              <a:rPr lang="en-US" dirty="0"/>
              <a:t>. IT Revolution Press.</a:t>
            </a:r>
          </a:p>
          <a:p>
            <a:endParaRPr lang="en-US" dirty="0"/>
          </a:p>
          <a:p>
            <a:r>
              <a:rPr lang="en-US" dirty="0"/>
              <a:t>Kim, G., Humble, J., Debois, P., &amp; Willis, J. (2021). </a:t>
            </a:r>
            <a:r>
              <a:rPr lang="en-US" i="1" dirty="0"/>
              <a:t>The DevOps handbook</a:t>
            </a:r>
            <a:r>
              <a:rPr lang="en-US" dirty="0"/>
              <a:t> (2nd ed.). IT Revolution Press.</a:t>
            </a:r>
          </a:p>
          <a:p>
            <a:endParaRPr lang="en-US" dirty="0"/>
          </a:p>
          <a:p>
            <a:r>
              <a:rPr lang="en-US" dirty="0"/>
              <a:t>Kersten, M. (2018). </a:t>
            </a:r>
            <a:r>
              <a:rPr lang="en-US" i="1" dirty="0"/>
              <a:t>Project to product</a:t>
            </a:r>
            <a:r>
              <a:rPr lang="en-US" dirty="0"/>
              <a:t>. IT Revolution Press.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79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667</Words>
  <Application>Microsoft Office PowerPoint</Application>
  <PresentationFormat>Widescreen</PresentationFormat>
  <Paragraphs>145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The Technology Value Stream in DevOps</vt:lpstr>
      <vt:lpstr>What is a Technology Value Stream?</vt:lpstr>
      <vt:lpstr>Technology Value Stream Process</vt:lpstr>
      <vt:lpstr>Defining Lead Time</vt:lpstr>
      <vt:lpstr>Defining Processing Time</vt:lpstr>
      <vt:lpstr>Lead Time vs. Processing Time</vt:lpstr>
      <vt:lpstr>Common Scenario – Deployment Lead Times Requiring Months</vt:lpstr>
      <vt:lpstr>Our DevOps Ideal – Deployment Lead Times of Minutes</vt:lpstr>
      <vt:lpstr>Why Reducing Lead Time Matters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Dardar</dc:creator>
  <cp:lastModifiedBy>Jordan Dardar</cp:lastModifiedBy>
  <cp:revision>1</cp:revision>
  <dcterms:created xsi:type="dcterms:W3CDTF">2026-06-01T17:18:41Z</dcterms:created>
  <dcterms:modified xsi:type="dcterms:W3CDTF">2026-06-01T17:33:51Z</dcterms:modified>
</cp:coreProperties>
</file>