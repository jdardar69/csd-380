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814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presentation summarizes industry best practices for pager rotation duties in DevOps and SRE-style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SRE describes being on call as being available during a set period and ready to respond to production incidents with appropriate urgency.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on-call design to service reliability and team sustainability.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duties should be documented so the on-call engineer is not guessing during a stressful incident.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emphasizes schedule design. Atlassian notes on-call schedules are essential to ensuring the right people are available at the right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SRE’s monitoring guidance emphasizes that not every monitoring signal should page a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Handoffs and runbooks prevent knowledge from being trapped in one person’s head. Postmortems create durable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proposed action plan for an organization implementing pager rotation duties.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slide for the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10515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Pager Rotation Duties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49808" y="18562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1FAE5"/>
                </a:solidFill>
              </a:rPr>
              <a:t>Industry best practices for sustainable DevOps on-call work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49808" y="2395728"/>
            <a:ext cx="2514600" cy="310896"/>
          </a:xfrm>
          <a:prstGeom prst="roundRect">
            <a:avLst>
              <a:gd name="adj" fmla="val 23529"/>
            </a:avLst>
          </a:prstGeom>
          <a:solidFill>
            <a:srgbClr val="0E9F8C">
              <a:alpha val="95000"/>
            </a:srgbClr>
          </a:solidFill>
          <a:ln w="12700">
            <a:solidFill>
              <a:srgbClr val="0E9F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464308"/>
            <a:ext cx="23682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</a:rPr>
              <a:t>CSD380 DevOps • Module 7.2</a:t>
            </a:r>
            <a:endParaRPr lang="en-US" sz="880" dirty="0"/>
          </a:p>
        </p:txBody>
      </p:sp>
      <p:sp>
        <p:nvSpPr>
          <p:cNvPr id="6" name="Shape 4"/>
          <p:cNvSpPr/>
          <p:nvPr/>
        </p:nvSpPr>
        <p:spPr>
          <a:xfrm>
            <a:off x="3429000" y="2395728"/>
            <a:ext cx="3447288" cy="310896"/>
          </a:xfrm>
          <a:prstGeom prst="roundRect">
            <a:avLst>
              <a:gd name="adj" fmla="val 23529"/>
            </a:avLst>
          </a:prstGeom>
          <a:solidFill>
            <a:srgbClr val="F59E0B">
              <a:alpha val="95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502152" y="2423160"/>
            <a:ext cx="3030728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Jordan Dardar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35240" y="914400"/>
            <a:ext cx="3474720" cy="4297680"/>
          </a:xfrm>
          <a:prstGeom prst="roundRect">
            <a:avLst>
              <a:gd name="adj" fmla="val 5789"/>
            </a:avLst>
          </a:prstGeom>
          <a:solidFill>
            <a:schemeClr val="accent3">
              <a:lumMod val="60000"/>
              <a:lumOff val="40000"/>
              <a:alpha val="93000"/>
            </a:scheme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028432" y="137160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ON-CALL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00416" y="1920240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0F2FE"/>
                </a:solidFill>
              </a:rPr>
              <a:t>ALERT → ACK → MITIGATE → LEARN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56448" y="25786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58200" y="25511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Pager received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56448" y="31455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58200" y="31181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Triage severity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56448" y="3712464"/>
            <a:ext cx="201168" cy="201168"/>
          </a:xfrm>
          <a:prstGeom prst="ellipse">
            <a:avLst/>
          </a:prstGeom>
          <a:solidFill>
            <a:srgbClr val="0E9F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58200" y="3685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Escalate if needed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56448" y="4279392"/>
            <a:ext cx="201168" cy="201168"/>
          </a:xfrm>
          <a:prstGeom prst="ellipse">
            <a:avLst/>
          </a:prstGeom>
          <a:solidFill>
            <a:srgbClr val="0E9F8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58200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Document outcome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5413248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healthy rotation protects customers without burning out engineers.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“pager rotation” means in DevOps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planned handoff of production response responsibility across trained team members.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41732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618488"/>
            <a:ext cx="658368" cy="658368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6916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☎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82496" y="163677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Core idea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295144"/>
            <a:ext cx="30266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A pager rotation is a schedule where designated engineers are available during a set time to respond to production incidents with urgency.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43984" y="141732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45152" y="1618488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45152" y="16916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↺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13248" y="163677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DevOps purpose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5152" y="2295144"/>
            <a:ext cx="30266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The team that builds and operates a service takes responsibility for reliability, not just feature delivery. This closes the feedback loop between code and production.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74736" y="1417320"/>
            <a:ext cx="3429000" cy="3520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75904" y="161848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75904" y="16916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✓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144000" y="163677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What is covered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75904" y="2295144"/>
            <a:ext cx="3026664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Responding to alerts, triaging impact, mitigating incidents, escalating to experts, communicating status, and improving runbooks after the incident.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1248" y="5504688"/>
            <a:ext cx="10332720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33A"/>
                </a:solidFill>
              </a:rPr>
              <a:t>Key takeaway: on-call is not “just being available.” It is an operational responsibility with clear expectations, support, and learning.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strong rotations matter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rotation design directly affects reliability, incident response speed, and team health.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09160" y="1965960"/>
            <a:ext cx="2743200" cy="2743200"/>
          </a:xfrm>
          <a:prstGeom prst="ellipse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66360" y="254203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Healthy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On-Call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System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13232" y="150876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7824" y="1709928"/>
            <a:ext cx="658368" cy="658368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" y="17830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⚡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73352" y="18196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A"/>
                </a:solidFill>
              </a:rPr>
              <a:t>Faster incident response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21040" y="150876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85632" y="1709928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485632" y="17830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☁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281160" y="18196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A"/>
                </a:solidFill>
              </a:rPr>
              <a:t>Less customer impact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13232" y="416052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7824" y="4361688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7824" y="44348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◔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73352" y="44714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A"/>
                </a:solidFill>
              </a:rPr>
              <a:t>Lower alert fatigue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321040" y="4160520"/>
            <a:ext cx="3154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85632" y="436168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85632" y="44348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✎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281160" y="447141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33A"/>
                </a:solidFill>
              </a:rPr>
              <a:t>Better learning after failure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34440" y="580644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EF4444"/>
                </a:solidFill>
              </a:rPr>
              <a:t>A weak rotation causes missed pages, confused ownership, slow escalation, and burnout.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duties during an on-call shift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person carrying the pager owns first response, not every fix alone.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" y="1417320"/>
            <a:ext cx="502920" cy="50292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5179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1380744"/>
            <a:ext cx="97840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10512" y="149961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</a:rPr>
              <a:t>Acknowledge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1490472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Confirm the alert quickly so the team knows the issue is owned.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225856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23591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2221992"/>
            <a:ext cx="97840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10512" y="23408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</a:rPr>
              <a:t>Triage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1568" y="2331720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Check severity, user impact, logs, metrics, dashboards, and recent changes.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41248" y="309981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" y="320040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54480" y="3063240"/>
            <a:ext cx="97840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10512" y="3182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</a:rPr>
              <a:t>Mitigate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01568" y="3172968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Restore service first: rollback, failover, scale, disable a feature, or apply a safe workaround.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41248" y="3941064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" y="404164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54480" y="3904488"/>
            <a:ext cx="97840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810512" y="40233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</a:rPr>
              <a:t>Escalate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01568" y="4014216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Bring in service owners, incident command, security, or management when severity requires it.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1248" y="4782312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1248" y="488289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54480" y="4745736"/>
            <a:ext cx="97840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10512" y="48646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33A"/>
                </a:solidFill>
              </a:rPr>
              <a:t>Document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01568" y="4855464"/>
            <a:ext cx="754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Record timeline, actions, decisions, and follow-up items for postmortem learning.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05840" y="598017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3233A"/>
                </a:solidFill>
              </a:rPr>
              <a:t>Best practice: the primary responder coordinates the next action, but escalation prevents one person from becoming the bottleneck.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Rotation design best practices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The schedule should be fair, visible, and sustainable.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353312"/>
            <a:ext cx="333756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554480"/>
            <a:ext cx="658368" cy="658368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↻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682496" y="157276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Fair rotation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2231136"/>
            <a:ext cx="29352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Rotate primary duty evenly. Avoid repeatedly assigning the same people to nights, weekends, or high-risk windows.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17136" y="1353312"/>
            <a:ext cx="333756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18304" y="1554480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18304" y="16276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486400" y="157276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Primary + secondary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18304" y="2231136"/>
            <a:ext cx="29352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Use a backup responder so missed pages or complex incidents have immediate support.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21040" y="1353312"/>
            <a:ext cx="333756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22208" y="1554480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22208" y="1627632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↑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290304" y="1572768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Clear escalation path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22208" y="2231136"/>
            <a:ext cx="29352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Define who gets paged first, how long to wait, and when to escalate to managers or specialists.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" y="3566160"/>
            <a:ext cx="333756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" y="3767328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38404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◷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682496" y="378561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Time-zone awareness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443984"/>
            <a:ext cx="29352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Use follow-the-sun coverage when teams are distributed to reduce overnight load.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17136" y="3566160"/>
            <a:ext cx="333756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18304" y="3767328"/>
            <a:ext cx="658368" cy="6583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18304" y="38404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⧉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5486400" y="378561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Planned overrides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18304" y="4443984"/>
            <a:ext cx="29352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Handle vacations, sick time, and holidays with explicit overrides before the shift begins.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321040" y="3566160"/>
            <a:ext cx="3337560" cy="1700784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522208" y="3767328"/>
            <a:ext cx="658368" cy="6583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22208" y="384048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$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9290304" y="3785616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Compensation / recovery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522208" y="4443984"/>
            <a:ext cx="2935224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Use comp time, reduced planned work, or pay policy so on-call load is recognized.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Alert quality: page only when action is needed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pager should interrupt a human only for urgent, actionable problems.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33A"/>
                </a:solidFill>
              </a:rPr>
              <a:t>Alert flow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1901952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2176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Telemetry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32688" y="2487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metrics • logs • traces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71800" y="242316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6160" y="1901952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75888" y="2176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SLO / threshold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75888" y="2487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customer-impact signal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15000" y="242316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1901952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19088" y="2176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9088" y="2487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urgent + actionable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458200" y="242316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52560" y="1901952"/>
            <a:ext cx="2148840" cy="1051560"/>
          </a:xfrm>
          <a:prstGeom prst="roundRect">
            <a:avLst>
              <a:gd name="adj" fmla="val 1043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62288" y="2176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Ticket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62288" y="2487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non-urgent work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388620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24128" y="4087368"/>
            <a:ext cx="658368" cy="658368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24128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−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792224" y="410565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Reduce noise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4128" y="4764024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Retire duplicate alerts, tune thresholds, group related alerts, and route low-priority issues to tickets instead of paging.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34840" y="388620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36008" y="408736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36008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!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5404104" y="410565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Use severity levels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36008" y="4764024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Define Sev 1/2/3 examples so responders know when to declare an incident and when to escalate.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46720" y="388620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247888" y="4087368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47888" y="416052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◎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015984" y="4105656"/>
            <a:ext cx="2276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Measure alert health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47888" y="4764024"/>
            <a:ext cx="30266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Track pages per shift, false positives, time to acknowledge, time to mitigate, and repeated incidents.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Handoffs, runbooks, and postmortems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On-call duty is a learning loop, not a one-time reaction.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16459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61288" y="1847088"/>
            <a:ext cx="658368" cy="658368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61288" y="19202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☑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929384" y="186537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Before shift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61288" y="2523744"/>
            <a:ext cx="256946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Review open incidents, deployments, risky changes, and ownership.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931920" y="260604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6459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73168" y="1847088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73168" y="19202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▶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41264" y="186537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During shift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73168" y="2523744"/>
            <a:ext cx="256946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Follow runbooks, communicate status, and escalate early.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2606040"/>
            <a:ext cx="5029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183880" y="1645920"/>
            <a:ext cx="2971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385048" y="1847088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385048" y="192024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</a:rPr>
              <a:t>↗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53144" y="1865376"/>
            <a:ext cx="1819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After shift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385048" y="2523744"/>
            <a:ext cx="2569464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Write a handoff note, update runbooks, and create follow-up work.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0120" y="4343400"/>
            <a:ext cx="10195560" cy="1170432"/>
          </a:xfrm>
          <a:prstGeom prst="roundRect">
            <a:avLst>
              <a:gd name="adj" fmla="val 10938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34440" y="4590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33A"/>
                </a:solidFill>
              </a:rPr>
              <a:t>Blameless postmortem mindset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06240" y="459943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11827"/>
                </a:solidFill>
              </a:rPr>
              <a:t>Focus on what the system allowed to happen, what signals were missing, and what changes will prevent repeat incidents.</a:t>
            </a:r>
            <a:endParaRPr lang="en-US" sz="12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implementation plan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 practical approach a DevOps team could apply immediately.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1399032"/>
            <a:ext cx="228600" cy="22860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39903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34440" y="137160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Define severity levels and who can declare an incident.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68680" y="1965960"/>
            <a:ext cx="228600" cy="22860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19659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34440" y="193852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Create primary and secondary rotation schedules with overrides.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68680" y="2532888"/>
            <a:ext cx="228600" cy="22860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2532888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34440" y="2505456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Connect services to escalation policies and ownership maps.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68680" y="3099816"/>
            <a:ext cx="228600" cy="22860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68680" y="3099816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234440" y="3072384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Audit alerts: keep pages urgent, actionable, and customer-impacting.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868680" y="3666744"/>
            <a:ext cx="228600" cy="22860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66674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34440" y="3639312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Build runbooks for the top recurring incidents.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868680" y="4233672"/>
            <a:ext cx="228600" cy="22860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423367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234440" y="4206240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Track MTTA, MTTR, pages per engineer, false positives, and burnout risk.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868680" y="4800600"/>
            <a:ext cx="228600" cy="228600"/>
          </a:xfrm>
          <a:prstGeom prst="ellipse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480060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34440" y="4773168"/>
            <a:ext cx="6903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Review incidents weekly and assign follow-up work to the backlog.</a:t>
            </a:r>
            <a:endParaRPr lang="en-US" sz="1320" dirty="0"/>
          </a:p>
        </p:txBody>
      </p:sp>
      <p:sp>
        <p:nvSpPr>
          <p:cNvPr id="28" name="Shape 26"/>
          <p:cNvSpPr/>
          <p:nvPr/>
        </p:nvSpPr>
        <p:spPr>
          <a:xfrm>
            <a:off x="8503920" y="1371600"/>
            <a:ext cx="2697480" cy="3840480"/>
          </a:xfrm>
          <a:prstGeom prst="roundRect">
            <a:avLst>
              <a:gd name="adj" fmla="val 6102"/>
            </a:avLst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59952" y="17556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Recommendation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823960" y="2331720"/>
            <a:ext cx="205740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20" dirty="0">
                <a:solidFill>
                  <a:srgbClr val="E0F2FE"/>
                </a:solidFill>
              </a:rPr>
              <a:t>Use Datadog/New Relic or similar observability, PagerDuty/Opsgenie/Jira Service Management for paging, and GitHub/GitLab/Jira for follow-up work.</a:t>
            </a:r>
            <a:endParaRPr lang="en-US" sz="1120" dirty="0"/>
          </a:p>
        </p:txBody>
      </p:sp>
      <p:sp>
        <p:nvSpPr>
          <p:cNvPr id="31" name="Text 29"/>
          <p:cNvSpPr/>
          <p:nvPr/>
        </p:nvSpPr>
        <p:spPr>
          <a:xfrm>
            <a:off x="8823960" y="416052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7E8D4"/>
                </a:solidFill>
              </a:rPr>
              <a:t>Most important: measure and improve the rotation continuously.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9F8C"/>
          </a:solidFill>
          <a:ln w="12700">
            <a:solidFill>
              <a:srgbClr val="0E9F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32918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03504" y="7955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Sources used for industry best practices and terminology.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097280"/>
            <a:ext cx="109270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133502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Atlassian. (2025). Best practices for managing on-call schedules. Jira Service Management Support.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786384" y="18562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Atlassian. (n.d.). On-call management and incident response resources. Atlassian Incident Management.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786384" y="237744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Beyer, B., Jones, C., Petoff, J., &amp; Murphy, N. R. (Eds.). (2016). Site Reliability Engineering. O’Reilly Media / Google.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786384" y="289864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Google SRE. (n.d.). What it means being on-call. Site Reliability Engineering Workbook.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786384" y="3419856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Google SRE. (n.d.). Monitoring distributed systems. Site Reliability Engineering Book.</a:t>
            </a:r>
            <a:endParaRPr lang="en-US" sz="113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GitLab. (2026). On-call. The GitLab Handbook.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786384" y="446227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PagerDuty. (n.d.). Best practices for on-call teams: Schedules and escalation policies.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786384" y="498348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11827"/>
                </a:solidFill>
              </a:rPr>
              <a:t>Kim, G., Humble, J., Debois, P., &amp; Willis, J. (2021). The DevOps Handbook (2nd ed.). IT Revolution.</a:t>
            </a:r>
            <a:endParaRPr lang="en-US"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1160</Words>
  <Application>Microsoft Office PowerPoint</Application>
  <PresentationFormat>Widescreen</PresentationFormat>
  <Paragraphs>155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Bellevue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Pager Rotation Duties in DevOps</dc:title>
  <dc:subject>CSD380 DevOps Module 7.2: Pager Rotation Duties</dc:subject>
  <dc:creator>Jordan Dardar</dc:creator>
  <cp:lastModifiedBy>Jordan Dardar</cp:lastModifiedBy>
  <cp:revision>2</cp:revision>
  <dcterms:created xsi:type="dcterms:W3CDTF">2026-07-06T21:11:32Z</dcterms:created>
  <dcterms:modified xsi:type="dcterms:W3CDTF">2026-07-06T21:18:40Z</dcterms:modified>
</cp:coreProperties>
</file>