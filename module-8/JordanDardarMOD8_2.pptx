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9C10B-767E-4FD7-9D39-5A2D646F0F9F}" v="6" dt="2026-07-14T00:12:28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Dardar" userId="bf7b334d40b61af5" providerId="LiveId" clId="{4E158AB8-6A65-4C9B-B92F-5C42AE9A8D85}"/>
    <pc:docChg chg="modSld modMainMaster">
      <pc:chgData name="Jordan Dardar" userId="bf7b334d40b61af5" providerId="LiveId" clId="{4E158AB8-6A65-4C9B-B92F-5C42AE9A8D85}" dt="2026-07-14T00:15:57.504" v="100" actId="20577"/>
      <pc:docMkLst>
        <pc:docMk/>
      </pc:docMkLst>
      <pc:sldChg chg="modSp mod setBg">
        <pc:chgData name="Jordan Dardar" userId="bf7b334d40b61af5" providerId="LiveId" clId="{4E158AB8-6A65-4C9B-B92F-5C42AE9A8D85}" dt="2026-07-14T00:13:34.938" v="67" actId="207"/>
        <pc:sldMkLst>
          <pc:docMk/>
          <pc:sldMk cId="0" sldId="256"/>
        </pc:sldMkLst>
        <pc:spChg chg="mod">
          <ac:chgData name="Jordan Dardar" userId="bf7b334d40b61af5" providerId="LiveId" clId="{4E158AB8-6A65-4C9B-B92F-5C42AE9A8D85}" dt="2026-07-14T00:13:34.938" v="67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rdan Dardar" userId="bf7b334d40b61af5" providerId="LiveId" clId="{4E158AB8-6A65-4C9B-B92F-5C42AE9A8D85}" dt="2026-07-14T00:11:39.638" v="5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2:53.832" v="65" actId="14100"/>
        <pc:sldMkLst>
          <pc:docMk/>
          <pc:sldMk cId="0" sldId="257"/>
        </pc:sldMkLst>
        <pc:spChg chg="mod">
          <ac:chgData name="Jordan Dardar" userId="bf7b334d40b61af5" providerId="LiveId" clId="{4E158AB8-6A65-4C9B-B92F-5C42AE9A8D85}" dt="2026-07-14T00:12:53.832" v="65" actId="14100"/>
          <ac:spMkLst>
            <pc:docMk/>
            <pc:sldMk cId="0" sldId="257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3:53.380" v="69" actId="207"/>
        <pc:sldMkLst>
          <pc:docMk/>
          <pc:sldMk cId="0" sldId="258"/>
        </pc:sldMkLst>
        <pc:spChg chg="mod">
          <ac:chgData name="Jordan Dardar" userId="bf7b334d40b61af5" providerId="LiveId" clId="{4E158AB8-6A65-4C9B-B92F-5C42AE9A8D85}" dt="2026-07-14T00:13:53.380" v="69" actId="207"/>
          <ac:spMkLst>
            <pc:docMk/>
            <pc:sldMk cId="0" sldId="258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4:11.427" v="71" actId="207"/>
        <pc:sldMkLst>
          <pc:docMk/>
          <pc:sldMk cId="0" sldId="259"/>
        </pc:sldMkLst>
        <pc:spChg chg="mod">
          <ac:chgData name="Jordan Dardar" userId="bf7b334d40b61af5" providerId="LiveId" clId="{4E158AB8-6A65-4C9B-B92F-5C42AE9A8D85}" dt="2026-07-14T00:14:11.427" v="71" actId="207"/>
          <ac:spMkLst>
            <pc:docMk/>
            <pc:sldMk cId="0" sldId="259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4:23.593" v="73" actId="207"/>
        <pc:sldMkLst>
          <pc:docMk/>
          <pc:sldMk cId="0" sldId="260"/>
        </pc:sldMkLst>
        <pc:spChg chg="mod">
          <ac:chgData name="Jordan Dardar" userId="bf7b334d40b61af5" providerId="LiveId" clId="{4E158AB8-6A65-4C9B-B92F-5C42AE9A8D85}" dt="2026-07-14T00:14:23.593" v="73" actId="207"/>
          <ac:spMkLst>
            <pc:docMk/>
            <pc:sldMk cId="0" sldId="260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4:33.945" v="75" actId="207"/>
        <pc:sldMkLst>
          <pc:docMk/>
          <pc:sldMk cId="0" sldId="261"/>
        </pc:sldMkLst>
        <pc:spChg chg="mod">
          <ac:chgData name="Jordan Dardar" userId="bf7b334d40b61af5" providerId="LiveId" clId="{4E158AB8-6A65-4C9B-B92F-5C42AE9A8D85}" dt="2026-07-14T00:14:33.945" v="75" actId="207"/>
          <ac:spMkLst>
            <pc:docMk/>
            <pc:sldMk cId="0" sldId="261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4:43.147" v="77" actId="207"/>
        <pc:sldMkLst>
          <pc:docMk/>
          <pc:sldMk cId="0" sldId="262"/>
        </pc:sldMkLst>
        <pc:spChg chg="mod">
          <ac:chgData name="Jordan Dardar" userId="bf7b334d40b61af5" providerId="LiveId" clId="{4E158AB8-6A65-4C9B-B92F-5C42AE9A8D85}" dt="2026-07-14T00:14:43.147" v="77" actId="207"/>
          <ac:spMkLst>
            <pc:docMk/>
            <pc:sldMk cId="0" sldId="262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4:53.598" v="79" actId="207"/>
        <pc:sldMkLst>
          <pc:docMk/>
          <pc:sldMk cId="0" sldId="263"/>
        </pc:sldMkLst>
        <pc:spChg chg="mod">
          <ac:chgData name="Jordan Dardar" userId="bf7b334d40b61af5" providerId="LiveId" clId="{4E158AB8-6A65-4C9B-B92F-5C42AE9A8D85}" dt="2026-07-14T00:14:53.598" v="79" actId="207"/>
          <ac:spMkLst>
            <pc:docMk/>
            <pc:sldMk cId="0" sldId="263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5:01.918" v="81" actId="207"/>
        <pc:sldMkLst>
          <pc:docMk/>
          <pc:sldMk cId="0" sldId="264"/>
        </pc:sldMkLst>
        <pc:spChg chg="mod">
          <ac:chgData name="Jordan Dardar" userId="bf7b334d40b61af5" providerId="LiveId" clId="{4E158AB8-6A65-4C9B-B92F-5C42AE9A8D85}" dt="2026-07-14T00:15:01.918" v="81" actId="207"/>
          <ac:spMkLst>
            <pc:docMk/>
            <pc:sldMk cId="0" sldId="264"/>
            <ac:spMk id="2" creationId="{00000000-0000-0000-0000-000000000000}"/>
          </ac:spMkLst>
        </pc:spChg>
      </pc:sldChg>
      <pc:sldChg chg="modSp mod setBg">
        <pc:chgData name="Jordan Dardar" userId="bf7b334d40b61af5" providerId="LiveId" clId="{4E158AB8-6A65-4C9B-B92F-5C42AE9A8D85}" dt="2026-07-14T00:15:57.504" v="100" actId="20577"/>
        <pc:sldMkLst>
          <pc:docMk/>
          <pc:sldMk cId="0" sldId="265"/>
        </pc:sldMkLst>
        <pc:spChg chg="mod">
          <ac:chgData name="Jordan Dardar" userId="bf7b334d40b61af5" providerId="LiveId" clId="{4E158AB8-6A65-4C9B-B92F-5C42AE9A8D85}" dt="2026-07-14T00:15:13.822" v="83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Jordan Dardar" userId="bf7b334d40b61af5" providerId="LiveId" clId="{4E158AB8-6A65-4C9B-B92F-5C42AE9A8D85}" dt="2026-07-14T00:15:57.504" v="100" actId="20577"/>
          <ac:spMkLst>
            <pc:docMk/>
            <pc:sldMk cId="0" sldId="265"/>
            <ac:spMk id="5" creationId="{00000000-0000-0000-0000-000000000000}"/>
          </ac:spMkLst>
        </pc:spChg>
      </pc:sldChg>
      <pc:sldMasterChg chg="setBg modSldLayout">
        <pc:chgData name="Jordan Dardar" userId="bf7b334d40b61af5" providerId="LiveId" clId="{4E158AB8-6A65-4C9B-B92F-5C42AE9A8D85}" dt="2026-07-14T00:12:28.326" v="61"/>
        <pc:sldMasterMkLst>
          <pc:docMk/>
          <pc:sldMasterMk cId="2209977519" sldId="2147483648"/>
        </pc:sldMasterMkLst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Jordan Dardar" userId="bf7b334d40b61af5" providerId="LiveId" clId="{4E158AB8-6A65-4C9B-B92F-5C42AE9A8D85}" dt="2026-07-14T00:12:28.326" v="61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9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Establishing a Just Learning 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99617" y="1005840"/>
            <a:ext cx="85313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dirty="0"/>
              <a:t>Barriers and Challenges to Implementation</a:t>
            </a:r>
            <a:br>
              <a:rPr dirty="0"/>
            </a:br>
            <a:br>
              <a:rPr dirty="0"/>
            </a:br>
            <a:r>
              <a:rPr dirty="0"/>
              <a:t>Jordan Dardar</a:t>
            </a:r>
            <a:br>
              <a:rPr dirty="0"/>
            </a:br>
            <a:r>
              <a:rPr dirty="0"/>
              <a:t>CSD 38</a:t>
            </a:r>
            <a:r>
              <a:rPr lang="en-US" dirty="0"/>
              <a:t>0</a:t>
            </a:r>
            <a:r>
              <a:rPr dirty="0"/>
              <a:t> DevOps</a:t>
            </a:r>
            <a:br>
              <a:rPr dirty="0"/>
            </a:br>
            <a:r>
              <a:rPr lang="en-US" dirty="0"/>
              <a:t>Module 8.2</a:t>
            </a:r>
            <a:br>
              <a:rPr dirty="0"/>
            </a:br>
            <a:r>
              <a:rPr lang="en-US" dirty="0"/>
              <a:t>7/13/2026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 Just Learning Culture?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Encourages employees to report mistakes without unfair punishment.</a:t>
            </a:r>
            <a:br/>
            <a:r>
              <a:t>• Treats failures as opportunities to improve systems.</a:t>
            </a:r>
            <a:br/>
            <a:r>
              <a:t>• Holds people accountable for reckless behavior.</a:t>
            </a:r>
            <a:br/>
            <a:r>
              <a:t>• Promotes continuous learning and collaboration.</a:t>
            </a:r>
            <a:br/>
            <a:br/>
            <a:r>
              <a:t>A just learning culture focuses on fixing systems rather than blaming individuals.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It Matters in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Faster incident resolution</a:t>
            </a:r>
            <a:br/>
            <a:r>
              <a:t>• Better collaboration between teams</a:t>
            </a:r>
            <a:br/>
            <a:r>
              <a:t>• Improved software quality</a:t>
            </a:r>
            <a:br/>
            <a:r>
              <a:t>• Increased trust and innovation</a:t>
            </a:r>
            <a:br/>
            <a:r>
              <a:t>• Supports Continuous Integration and Continuous Delivery (CI/CD)</a:t>
            </a:r>
            <a:br/>
            <a:br/>
            <a:r>
              <a:t>Organizations that learn from failures become more resilient.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19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Barrier #1: Fear of Blame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Employees fear discipline or embarrassment.</a:t>
            </a:r>
            <a:br/>
            <a:r>
              <a:t>• Mistakes go unreported.</a:t>
            </a:r>
            <a:br/>
            <a:r>
              <a:t>• Small issues grow into larger outages.</a:t>
            </a:r>
            <a:br/>
            <a:r>
              <a:t>• Teams become hesitant to innovate.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Barrier #2: Poor Leadership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Leaders focus on blame instead of improvement.</a:t>
            </a:r>
            <a:br/>
            <a:r>
              <a:t>• Lack of psychological safety.</a:t>
            </a:r>
            <a:br/>
            <a:r>
              <a:t>• Poor communication.</a:t>
            </a:r>
            <a:br/>
            <a:r>
              <a:t>• Employees lose trust.</a:t>
            </a:r>
            <a:br/>
            <a:br/>
            <a:r>
              <a:t>Strong leadership encourages transparency and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Barrier #3: Organizational Resistance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Resistance to change</a:t>
            </a:r>
            <a:br/>
            <a:r>
              <a:t>• Department silos</a:t>
            </a:r>
            <a:br/>
            <a:r>
              <a:t>• Legacy processes</a:t>
            </a:r>
            <a:br/>
            <a:r>
              <a:t>• Limited training</a:t>
            </a:r>
            <a:br/>
            <a:r>
              <a:t>• Poor cross-team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earning_cyc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6012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 just learning culture follows a cycle of reporting incidents, analyzing root causes, learning from failures, and improving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Strategies for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Encourage psychological safety.</a:t>
            </a:r>
            <a:br/>
            <a:r>
              <a:t>• Reward honest reporting.</a:t>
            </a:r>
            <a:br/>
            <a:r>
              <a:t>• Conduct blameless postmortems.</a:t>
            </a:r>
            <a:br/>
            <a:r>
              <a:t>• Improve automation.</a:t>
            </a:r>
            <a:br/>
            <a:r>
              <a:t>• Share lessons learned.</a:t>
            </a:r>
            <a:br/>
            <a:r>
              <a:t>• Invest in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91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 just learning culture strengthens DevOps.</a:t>
            </a:r>
            <a:br/>
            <a:r>
              <a:t>• Fear of blame is the biggest barrier.</a:t>
            </a:r>
            <a:br/>
            <a:r>
              <a:t>• Leadership commitment is essential.</a:t>
            </a:r>
            <a:br/>
            <a:r>
              <a:t>• Continuous improvement leads to reliable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9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12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731520"/>
            <a:ext cx="11155680" cy="5394960"/>
          </a:xfrm>
          <a:prstGeom prst="roundRect">
            <a:avLst/>
          </a:prstGeom>
          <a:solidFill>
            <a:srgbClr val="E8F1FA"/>
          </a:solidFill>
          <a:ln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940157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Forsgren, N., Humble, J., &amp; Kim, G. (2018). Accelerate.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Kim, G., Humble, J., Debois, P., &amp; Willis, J. (2021). The DevOps Handbook (2nd ed.).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Google Cloud. Blameless Postmortems:</a:t>
            </a:r>
            <a:br>
              <a:rPr dirty="0"/>
            </a:br>
            <a:r>
              <a:rPr dirty="0"/>
              <a:t>https://sre.google/sre-book/postmortem-culture/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410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Dardar</dc:creator>
  <cp:keywords/>
  <dc:description>generated using python-pptx</dc:description>
  <cp:lastModifiedBy>Jordan Dardar</cp:lastModifiedBy>
  <cp:revision>1</cp:revision>
  <dcterms:created xsi:type="dcterms:W3CDTF">2013-01-27T09:14:16Z</dcterms:created>
  <dcterms:modified xsi:type="dcterms:W3CDTF">2026-07-14T00:16:34Z</dcterms:modified>
  <cp:category/>
</cp:coreProperties>
</file>