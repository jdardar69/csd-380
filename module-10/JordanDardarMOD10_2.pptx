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9C4951-6A0A-4F67-8768-DE6A61D1E73E}" v="10" dt="2026-07-20T21:02:27.2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5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Dardar" userId="bf7b334d40b61af5" providerId="LiveId" clId="{4E158AB8-6A65-4C9B-B92F-5C42AE9A8D85}"/>
    <pc:docChg chg="undo custSel modSld addMainMaster modMainMaster">
      <pc:chgData name="Jordan Dardar" userId="bf7b334d40b61af5" providerId="LiveId" clId="{4E158AB8-6A65-4C9B-B92F-5C42AE9A8D85}" dt="2026-07-20T21:02:27.271" v="17"/>
      <pc:docMkLst>
        <pc:docMk/>
      </pc:docMkLst>
      <pc:sldChg chg="mod setBg chgLayout">
        <pc:chgData name="Jordan Dardar" userId="bf7b334d40b61af5" providerId="LiveId" clId="{4E158AB8-6A65-4C9B-B92F-5C42AE9A8D85}" dt="2026-07-20T21:02:27.271" v="17"/>
        <pc:sldMkLst>
          <pc:docMk/>
          <pc:sldMk cId="1414951663" sldId="256"/>
        </pc:sldMkLst>
      </pc:sldChg>
      <pc:sldChg chg="setBg">
        <pc:chgData name="Jordan Dardar" userId="bf7b334d40b61af5" providerId="LiveId" clId="{4E158AB8-6A65-4C9B-B92F-5C42AE9A8D85}" dt="2026-07-20T20:56:48.258" v="6"/>
        <pc:sldMkLst>
          <pc:docMk/>
          <pc:sldMk cId="1976183138" sldId="257"/>
        </pc:sldMkLst>
      </pc:sldChg>
      <pc:sldChg chg="mod setBg chgLayout">
        <pc:chgData name="Jordan Dardar" userId="bf7b334d40b61af5" providerId="LiveId" clId="{4E158AB8-6A65-4C9B-B92F-5C42AE9A8D85}" dt="2026-07-20T20:56:48.258" v="6"/>
        <pc:sldMkLst>
          <pc:docMk/>
          <pc:sldMk cId="1594999804" sldId="258"/>
        </pc:sldMkLst>
      </pc:sldChg>
      <pc:sldChg chg="setBg">
        <pc:chgData name="Jordan Dardar" userId="bf7b334d40b61af5" providerId="LiveId" clId="{4E158AB8-6A65-4C9B-B92F-5C42AE9A8D85}" dt="2026-07-20T20:56:48.258" v="6"/>
        <pc:sldMkLst>
          <pc:docMk/>
          <pc:sldMk cId="1941440945" sldId="259"/>
        </pc:sldMkLst>
      </pc:sldChg>
      <pc:sldChg chg="modSp mod setBg">
        <pc:chgData name="Jordan Dardar" userId="bf7b334d40b61af5" providerId="LiveId" clId="{4E158AB8-6A65-4C9B-B92F-5C42AE9A8D85}" dt="2026-07-20T20:59:50.713" v="13" actId="27636"/>
        <pc:sldMkLst>
          <pc:docMk/>
          <pc:sldMk cId="980550189" sldId="260"/>
        </pc:sldMkLst>
        <pc:spChg chg="mod">
          <ac:chgData name="Jordan Dardar" userId="bf7b334d40b61af5" providerId="LiveId" clId="{4E158AB8-6A65-4C9B-B92F-5C42AE9A8D85}" dt="2026-07-20T20:59:50.713" v="13" actId="27636"/>
          <ac:spMkLst>
            <pc:docMk/>
            <pc:sldMk cId="980550189" sldId="260"/>
            <ac:spMk id="28" creationId="{93C0E7B1-204E-48CE-968E-0FA254364E6C}"/>
          </ac:spMkLst>
        </pc:spChg>
      </pc:sldChg>
      <pc:sldChg chg="setBg">
        <pc:chgData name="Jordan Dardar" userId="bf7b334d40b61af5" providerId="LiveId" clId="{4E158AB8-6A65-4C9B-B92F-5C42AE9A8D85}" dt="2026-07-20T20:56:48.258" v="6"/>
        <pc:sldMkLst>
          <pc:docMk/>
          <pc:sldMk cId="1883847282" sldId="261"/>
        </pc:sldMkLst>
      </pc:sldChg>
      <pc:sldChg chg="modSp mod setBg">
        <pc:chgData name="Jordan Dardar" userId="bf7b334d40b61af5" providerId="LiveId" clId="{4E158AB8-6A65-4C9B-B92F-5C42AE9A8D85}" dt="2026-07-20T20:56:48.258" v="6"/>
        <pc:sldMkLst>
          <pc:docMk/>
          <pc:sldMk cId="838346487" sldId="262"/>
        </pc:sldMkLst>
        <pc:spChg chg="mod">
          <ac:chgData name="Jordan Dardar" userId="bf7b334d40b61af5" providerId="LiveId" clId="{4E158AB8-6A65-4C9B-B92F-5C42AE9A8D85}" dt="2026-07-20T20:56:46.148" v="5" actId="27636"/>
          <ac:spMkLst>
            <pc:docMk/>
            <pc:sldMk cId="838346487" sldId="262"/>
            <ac:spMk id="14" creationId="{6217E96E-F341-49DE-AD24-49F74A6C7F56}"/>
          </ac:spMkLst>
        </pc:spChg>
        <pc:spChg chg="mod">
          <ac:chgData name="Jordan Dardar" userId="bf7b334d40b61af5" providerId="LiveId" clId="{4E158AB8-6A65-4C9B-B92F-5C42AE9A8D85}" dt="2026-07-20T20:56:46.145" v="4" actId="27636"/>
          <ac:spMkLst>
            <pc:docMk/>
            <pc:sldMk cId="838346487" sldId="262"/>
            <ac:spMk id="34" creationId="{44637D76-4427-4993-B233-E48ECBDA77FA}"/>
          </ac:spMkLst>
        </pc:spChg>
      </pc:sldChg>
      <pc:sldChg chg="setBg">
        <pc:chgData name="Jordan Dardar" userId="bf7b334d40b61af5" providerId="LiveId" clId="{4E158AB8-6A65-4C9B-B92F-5C42AE9A8D85}" dt="2026-07-20T20:56:48.258" v="6"/>
        <pc:sldMkLst>
          <pc:docMk/>
          <pc:sldMk cId="1566425657" sldId="263"/>
        </pc:sldMkLst>
      </pc:sldChg>
      <pc:sldChg chg="setBg">
        <pc:chgData name="Jordan Dardar" userId="bf7b334d40b61af5" providerId="LiveId" clId="{4E158AB8-6A65-4C9B-B92F-5C42AE9A8D85}" dt="2026-07-20T20:56:48.258" v="6"/>
        <pc:sldMkLst>
          <pc:docMk/>
          <pc:sldMk cId="376835573" sldId="264"/>
        </pc:sldMkLst>
      </pc:sldChg>
      <pc:sldChg chg="setBg">
        <pc:chgData name="Jordan Dardar" userId="bf7b334d40b61af5" providerId="LiveId" clId="{4E158AB8-6A65-4C9B-B92F-5C42AE9A8D85}" dt="2026-07-20T20:56:48.258" v="6"/>
        <pc:sldMkLst>
          <pc:docMk/>
          <pc:sldMk cId="861462000" sldId="265"/>
        </pc:sldMkLst>
      </pc:sldChg>
      <pc:sldMasterChg chg="setBg modSldLayout">
        <pc:chgData name="Jordan Dardar" userId="bf7b334d40b61af5" providerId="LiveId" clId="{4E158AB8-6A65-4C9B-B92F-5C42AE9A8D85}" dt="2026-07-20T20:59:50.697" v="12"/>
        <pc:sldMasterMkLst>
          <pc:docMk/>
          <pc:sldMasterMk cId="0" sldId="2147483648"/>
        </pc:sldMasterMkLst>
        <pc:sldLayoutChg chg="setBg">
          <pc:chgData name="Jordan Dardar" userId="bf7b334d40b61af5" providerId="LiveId" clId="{4E158AB8-6A65-4C9B-B92F-5C42AE9A8D85}" dt="2026-07-20T20:59:50.697" v="12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new mod setBg addSldLayout modSldLayout">
        <pc:chgData name="Jordan Dardar" userId="bf7b334d40b61af5" providerId="LiveId" clId="{4E158AB8-6A65-4C9B-B92F-5C42AE9A8D85}" dt="2026-07-20T21:02:27.271" v="17"/>
        <pc:sldMasterMkLst>
          <pc:docMk/>
          <pc:sldMasterMk cId="2576493689" sldId="2147483650"/>
        </pc:sldMasterMkLst>
        <pc:sldLayoutChg chg="new replId setBg">
          <pc:chgData name="Jordan Dardar" userId="bf7b334d40b61af5" providerId="LiveId" clId="{4E158AB8-6A65-4C9B-B92F-5C42AE9A8D85}" dt="2026-07-20T21:02:27.271" v="17"/>
          <pc:sldLayoutMkLst>
            <pc:docMk/>
            <pc:sldMasterMk cId="2576493689" sldId="2147483650"/>
            <pc:sldLayoutMk cId="702313404" sldId="2147483651"/>
          </pc:sldLayoutMkLst>
        </pc:sldLayoutChg>
        <pc:sldLayoutChg chg="new replId setBg">
          <pc:chgData name="Jordan Dardar" userId="bf7b334d40b61af5" providerId="LiveId" clId="{4E158AB8-6A65-4C9B-B92F-5C42AE9A8D85}" dt="2026-07-20T21:02:27.271" v="17"/>
          <pc:sldLayoutMkLst>
            <pc:docMk/>
            <pc:sldMasterMk cId="2576493689" sldId="2147483650"/>
            <pc:sldLayoutMk cId="2617526829" sldId="2147483652"/>
          </pc:sldLayoutMkLst>
        </pc:sldLayoutChg>
        <pc:sldLayoutChg chg="new replId setBg">
          <pc:chgData name="Jordan Dardar" userId="bf7b334d40b61af5" providerId="LiveId" clId="{4E158AB8-6A65-4C9B-B92F-5C42AE9A8D85}" dt="2026-07-20T21:02:27.271" v="17"/>
          <pc:sldLayoutMkLst>
            <pc:docMk/>
            <pc:sldMasterMk cId="2576493689" sldId="2147483650"/>
            <pc:sldLayoutMk cId="4122604441" sldId="2147483653"/>
          </pc:sldLayoutMkLst>
        </pc:sldLayoutChg>
        <pc:sldLayoutChg chg="new replId setBg">
          <pc:chgData name="Jordan Dardar" userId="bf7b334d40b61af5" providerId="LiveId" clId="{4E158AB8-6A65-4C9B-B92F-5C42AE9A8D85}" dt="2026-07-20T21:02:27.271" v="17"/>
          <pc:sldLayoutMkLst>
            <pc:docMk/>
            <pc:sldMasterMk cId="2576493689" sldId="2147483650"/>
            <pc:sldLayoutMk cId="463385908" sldId="2147483654"/>
          </pc:sldLayoutMkLst>
        </pc:sldLayoutChg>
        <pc:sldLayoutChg chg="new replId setBg">
          <pc:chgData name="Jordan Dardar" userId="bf7b334d40b61af5" providerId="LiveId" clId="{4E158AB8-6A65-4C9B-B92F-5C42AE9A8D85}" dt="2026-07-20T21:02:27.271" v="17"/>
          <pc:sldLayoutMkLst>
            <pc:docMk/>
            <pc:sldMasterMk cId="2576493689" sldId="2147483650"/>
            <pc:sldLayoutMk cId="3489914294" sldId="2147483655"/>
          </pc:sldLayoutMkLst>
        </pc:sldLayoutChg>
        <pc:sldLayoutChg chg="new replId setBg">
          <pc:chgData name="Jordan Dardar" userId="bf7b334d40b61af5" providerId="LiveId" clId="{4E158AB8-6A65-4C9B-B92F-5C42AE9A8D85}" dt="2026-07-20T21:02:27.271" v="17"/>
          <pc:sldLayoutMkLst>
            <pc:docMk/>
            <pc:sldMasterMk cId="2576493689" sldId="2147483650"/>
            <pc:sldLayoutMk cId="601121361" sldId="2147483656"/>
          </pc:sldLayoutMkLst>
        </pc:sldLayoutChg>
        <pc:sldLayoutChg chg="new replId setBg">
          <pc:chgData name="Jordan Dardar" userId="bf7b334d40b61af5" providerId="LiveId" clId="{4E158AB8-6A65-4C9B-B92F-5C42AE9A8D85}" dt="2026-07-20T21:02:27.271" v="17"/>
          <pc:sldLayoutMkLst>
            <pc:docMk/>
            <pc:sldMasterMk cId="2576493689" sldId="2147483650"/>
            <pc:sldLayoutMk cId="3698422003" sldId="2147483657"/>
          </pc:sldLayoutMkLst>
        </pc:sldLayoutChg>
        <pc:sldLayoutChg chg="new replId setBg">
          <pc:chgData name="Jordan Dardar" userId="bf7b334d40b61af5" providerId="LiveId" clId="{4E158AB8-6A65-4C9B-B92F-5C42AE9A8D85}" dt="2026-07-20T21:02:27.271" v="17"/>
          <pc:sldLayoutMkLst>
            <pc:docMk/>
            <pc:sldMasterMk cId="2576493689" sldId="2147483650"/>
            <pc:sldLayoutMk cId="3585053769" sldId="2147483658"/>
          </pc:sldLayoutMkLst>
        </pc:sldLayoutChg>
        <pc:sldLayoutChg chg="new replId setBg">
          <pc:chgData name="Jordan Dardar" userId="bf7b334d40b61af5" providerId="LiveId" clId="{4E158AB8-6A65-4C9B-B92F-5C42AE9A8D85}" dt="2026-07-20T21:02:27.271" v="17"/>
          <pc:sldLayoutMkLst>
            <pc:docMk/>
            <pc:sldMasterMk cId="2576493689" sldId="2147483650"/>
            <pc:sldLayoutMk cId="4226571591" sldId="2147483659"/>
          </pc:sldLayoutMkLst>
        </pc:sldLayoutChg>
        <pc:sldLayoutChg chg="new replId setBg">
          <pc:chgData name="Jordan Dardar" userId="bf7b334d40b61af5" providerId="LiveId" clId="{4E158AB8-6A65-4C9B-B92F-5C42AE9A8D85}" dt="2026-07-20T21:02:27.271" v="17"/>
          <pc:sldLayoutMkLst>
            <pc:docMk/>
            <pc:sldMasterMk cId="2576493689" sldId="2147483650"/>
            <pc:sldLayoutMk cId="2047115959" sldId="2147483660"/>
          </pc:sldLayoutMkLst>
        </pc:sldLayoutChg>
        <pc:sldLayoutChg chg="new replId setBg">
          <pc:chgData name="Jordan Dardar" userId="bf7b334d40b61af5" providerId="LiveId" clId="{4E158AB8-6A65-4C9B-B92F-5C42AE9A8D85}" dt="2026-07-20T21:02:27.271" v="17"/>
          <pc:sldLayoutMkLst>
            <pc:docMk/>
            <pc:sldMasterMk cId="2576493689" sldId="2147483650"/>
            <pc:sldLayoutMk cId="1389155528" sldId="2147483661"/>
          </pc:sldLayoutMkLst>
        </pc:sldLayoutChg>
        <pc:sldLayoutChg chg="setBg">
          <pc:chgData name="Jordan Dardar" userId="bf7b334d40b61af5" providerId="LiveId" clId="{4E158AB8-6A65-4C9B-B92F-5C42AE9A8D85}" dt="2026-07-20T21:02:27.271" v="17"/>
          <pc:sldLayoutMkLst>
            <pc:docMk/>
            <pc:sldMasterMk cId="2576493689" sldId="2147483650"/>
            <pc:sldLayoutMk cId="1408007068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325BB-D912-747D-593C-716472F65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1BED8-9F9E-B915-6181-384060CE1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85485-4CB7-4176-4970-B515998F9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CAAAD-0892-4AFF-9A3D-D36ED7AF222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5633C-2B63-F589-0698-46F48CFD9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08EB6A-3E49-D96B-F313-AEACD48FA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A914-6B3F-43CC-810E-DA05E5985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313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02F62-7A45-FF53-44D4-54AB54021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7ACC8-3924-02BE-E74B-A5D28EEA7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2D87A-124E-CC75-DE07-F98092A00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CAAAD-0892-4AFF-9A3D-D36ED7AF222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45547-F465-7026-29C1-1F9B3ECDB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D2BE2-6233-E14C-0F2A-5B2EFBD95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A914-6B3F-43CC-810E-DA05E5985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2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A2DCD-965D-609B-917E-CDF337AF2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DC7A8-5D01-0D2C-4917-0032D8B39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8484D-5B6B-3838-E4B0-FAF640D03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CAAAD-0892-4AFF-9A3D-D36ED7AF222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0B9DF-83A3-6CF5-65C7-3DB542A4E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A3DFD-F3D0-041D-0499-F17BB5BB6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A914-6B3F-43CC-810E-DA05E5985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61897-8723-5907-C91B-9E0E2FC9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2C925-0BCC-0F5A-3AD5-11A9D2CD8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BD555-0FE3-2A52-8158-B5FBB361B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1AA21-E6C6-00F6-A7D2-CC92BF8FF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CAAAD-0892-4AFF-9A3D-D36ED7AF222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D67228-EA70-D945-C794-D808A097F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07834-B8F8-0928-60ED-80A63272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A914-6B3F-43CC-810E-DA05E5985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385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01DC8-7411-29E9-8A2A-BF6715B2A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D9B3D-E791-AD6E-8969-4ACD7F89C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30D4C8-028E-6B70-A50E-5D1F3B47D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F98208-A2EF-927F-BC4F-F02440E8F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18BB8C-3C28-8F22-665D-F6ABB22A5F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5F145-A8EF-6BBF-3469-2B621AC01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CAAAD-0892-4AFF-9A3D-D36ED7AF222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C137C2-63CA-9384-4BBC-47A42747D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EC70A5-7264-3FA8-3AB5-3322E0220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A914-6B3F-43CC-810E-DA05E5985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9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97413-D15C-E27E-D17A-A87EE5491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9B4470-1E8B-8A9E-472E-23A9CD3C2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CAAAD-0892-4AFF-9A3D-D36ED7AF222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D87F5-E21F-26DC-B0C2-4A4BDE1B2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CC6A87-72B1-DF10-C735-F2EEF455B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A914-6B3F-43CC-810E-DA05E5985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21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A61315-E2B2-6338-99ED-AD57CDA05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CAAAD-0892-4AFF-9A3D-D36ED7AF222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E718AC-D563-B273-B343-B968DB75F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6846E-5B4B-3EDC-68DA-064B0D03B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A914-6B3F-43CC-810E-DA05E5985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42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7D82F-7390-780A-2BFC-256A6AF81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E5208-327C-0B0D-942A-5EDBDC019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681889-B523-B20A-08F1-CE9BF9DEA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D5A9B-F444-D91E-D611-0F9A4FF72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CAAAD-0892-4AFF-9A3D-D36ED7AF222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95AFC1-E5B5-BB2A-AECD-FAAA0C1A7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359E7-93E4-FC84-2BFA-A4C8585A8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A914-6B3F-43CC-810E-DA05E5985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53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BDECE-1E68-1023-851F-D90FE3EEB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EEFAA1-4FF3-5445-698E-C47DC34DF1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3AF97-8845-97F4-F658-4C5E2067F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0E65F-EEBF-5A7F-62B0-FD3E8A297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CAAAD-0892-4AFF-9A3D-D36ED7AF222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A32CC-992D-EA92-9620-AA5E2D46B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0BDAC-0312-E0DC-6C4B-DF91AF697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A914-6B3F-43CC-810E-DA05E5985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71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BC730-3F4C-87C2-7826-E89124C98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12E95-ACEC-5077-B3C1-A1D49CFCF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7D526-18BA-E1AE-3BE5-FC674F542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CAAAD-0892-4AFF-9A3D-D36ED7AF222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65421-D39B-9C11-6681-A7074260B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29DEF-CB30-91A9-C4A7-E1F92686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A914-6B3F-43CC-810E-DA05E5985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11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FBBE9E-C9FD-B27C-E62D-97B3C13F6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0D4B3-A42D-20BC-63B3-47DCC68C3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955B8-AAC8-5A15-C77F-79F11CBD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CAAAD-0892-4AFF-9A3D-D36ED7AF222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C74E-3CFD-A765-1019-482C8783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1F6C2-938E-F7BA-716A-2F9F8DF22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7A914-6B3F-43CC-810E-DA05E5985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555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8007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734DE5-2288-E754-8271-0CE11CEBF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2AA077-C7B1-AF24-FC45-992093FE1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3D20F3-59F0-C725-9B93-DE5F3BCFD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CAAAD-0892-4AFF-9A3D-D36ED7AF2225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EE496-7947-F697-C22D-8316FFA24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32503-2C28-824A-D771-7575EBC92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97A914-6B3F-43CC-810E-DA05E5985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49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a.gov/sites/default/files/publications/ESF_SECURING_THE_SOFTWARE_SUPPLY_CHAIN_DEVELOPERS.PDF" TargetMode="External"/><Relationship Id="rId7" Type="http://schemas.openxmlformats.org/officeDocument/2006/relationships/hyperlink" Target="https://docs.github.com/repositories/managing-your-repositorys-settings-and-features/customizing-your-repository/about-code-owner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cs.github.com/repositories/configuring-branches-and-merges-in-your-repository/managing-protected-branches/about-protected-branches" TargetMode="External"/><Relationship Id="rId5" Type="http://schemas.openxmlformats.org/officeDocument/2006/relationships/hyperlink" Target="https://docs.github.com/en/enterprise-cloud@latest/code-security/tutorials/secure-your-organization/protect-against-threats" TargetMode="External"/><Relationship Id="rId4" Type="http://schemas.openxmlformats.org/officeDocument/2006/relationships/hyperlink" Target="https://doi.org/10.6028/NIST.SP.800-218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github.com/code-security/security-advisories/working-with-repository-security-advisories/configuring-private-vulnerability-reporting-for-a-repository" TargetMode="External"/><Relationship Id="rId3" Type="http://schemas.openxmlformats.org/officeDocument/2006/relationships/hyperlink" Target="https://docs.github.com/en/code-security/concepts/code-scanning/codeql/codeql-code-scanning" TargetMode="External"/><Relationship Id="rId7" Type="http://schemas.openxmlformats.org/officeDocument/2006/relationships/hyperlink" Target="https://docs.github.com/code-security/getting-started/adding-a-security-policy-to-your-repositor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ocs.github.com/en/actions/reference/security/secure-use" TargetMode="External"/><Relationship Id="rId5" Type="http://schemas.openxmlformats.org/officeDocument/2006/relationships/hyperlink" Target="https://docs.github.com/en/code-security/concepts/secret-security/push-protection" TargetMode="External"/><Relationship Id="rId4" Type="http://schemas.openxmlformats.org/officeDocument/2006/relationships/hyperlink" Target="https://docs.github.com/en/code-security/concepts/supply-chain-security/dependabot-security-updat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-orbit-teal">
            <a:extLst>
              <a:ext uri="{FF2B5EF4-FFF2-40B4-BE49-F238E27FC236}">
                <a16:creationId xmlns:a16="http://schemas.microsoft.com/office/drawing/2014/main" id="{9A33D4ED-6688-4C28-BAA8-B453BE0A3327}"/>
              </a:ext>
            </a:extLst>
          </p:cNvPr>
          <p:cNvSpPr>
            <a:spLocks noGrp="1"/>
          </p:cNvSpPr>
          <p:nvPr/>
        </p:nvSpPr>
        <p:spPr>
          <a:xfrm>
            <a:off x="8763000" y="0"/>
            <a:ext cx="3429000" cy="3333750"/>
          </a:xfrm>
          <a:prstGeom prst="ellipse">
            <a:avLst/>
          </a:prstGeom>
          <a:solidFill>
            <a:srgbClr val="18A6A1">
              <a:alpha val="12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-orbit-amber">
            <a:extLst>
              <a:ext uri="{FF2B5EF4-FFF2-40B4-BE49-F238E27FC236}">
                <a16:creationId xmlns:a16="http://schemas.microsoft.com/office/drawing/2014/main" id="{95CFCA90-CA19-4637-BD0D-EBA1E7D53B62}"/>
              </a:ext>
            </a:extLst>
          </p:cNvPr>
          <p:cNvSpPr>
            <a:spLocks noGrp="1"/>
          </p:cNvSpPr>
          <p:nvPr/>
        </p:nvSpPr>
        <p:spPr>
          <a:xfrm>
            <a:off x="10001250" y="4476750"/>
            <a:ext cx="2190750" cy="2190750"/>
          </a:xfrm>
          <a:prstGeom prst="ellipse">
            <a:avLst/>
          </a:prstGeom>
          <a:solidFill>
            <a:srgbClr val="F2B84B">
              <a:alpha val="13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-code-mark">
            <a:extLst>
              <a:ext uri="{FF2B5EF4-FFF2-40B4-BE49-F238E27FC236}">
                <a16:creationId xmlns:a16="http://schemas.microsoft.com/office/drawing/2014/main" id="{CB1B251B-3CC6-428C-BBEB-6CEA4E6CB83A}"/>
              </a:ext>
            </a:extLst>
          </p:cNvPr>
          <p:cNvSpPr>
            <a:spLocks noGrp="1"/>
          </p:cNvSpPr>
          <p:nvPr/>
        </p:nvSpPr>
        <p:spPr>
          <a:xfrm>
            <a:off x="8858250" y="1476375"/>
            <a:ext cx="2762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8100" b="1" i="0">
                <a:solidFill>
                  <a:srgbClr val="8DB9BF"/>
                </a:solidFill>
                <a:latin typeface="Courier New"/>
                <a:ea typeface="Courier New"/>
                <a:cs typeface="Courier New"/>
              </a:defRPr>
            </a:pPr>
            <a:r>
              <a:rPr sz="8100" b="1" i="0">
                <a:solidFill>
                  <a:srgbClr val="8DB9BF"/>
                </a:solidFill>
                <a:latin typeface="Courier New"/>
                <a:ea typeface="Courier New"/>
                <a:cs typeface="Courier New"/>
              </a:rPr>
              <a:t>&lt;/&gt;</a:t>
            </a:r>
          </a:p>
        </p:txBody>
      </p:sp>
      <p:sp>
        <p:nvSpPr>
          <p:cNvPr id="4" name="title-kicker">
            <a:extLst>
              <a:ext uri="{FF2B5EF4-FFF2-40B4-BE49-F238E27FC236}">
                <a16:creationId xmlns:a16="http://schemas.microsoft.com/office/drawing/2014/main" id="{F0F20F3E-74E9-406F-8676-E0323542A2AE}"/>
              </a:ext>
            </a:extLst>
          </p:cNvPr>
          <p:cNvSpPr>
            <a:spLocks noGrp="1"/>
          </p:cNvSpPr>
          <p:nvPr/>
        </p:nvSpPr>
        <p:spPr>
          <a:xfrm>
            <a:off x="685800" y="619125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18A6A1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18A6A1"/>
                </a:solidFill>
                <a:latin typeface="Aptos Display"/>
                <a:ea typeface="Aptos Display"/>
                <a:cs typeface="Aptos Display"/>
              </a:rPr>
              <a:t>CSD380 DEVOPS  •  MODULE 10.2</a:t>
            </a:r>
          </a:p>
        </p:txBody>
      </p:sp>
      <p:sp>
        <p:nvSpPr>
          <p:cNvPr id="5" name="title-accent">
            <a:extLst>
              <a:ext uri="{FF2B5EF4-FFF2-40B4-BE49-F238E27FC236}">
                <a16:creationId xmlns:a16="http://schemas.microsoft.com/office/drawing/2014/main" id="{53E43393-B6F5-4886-A8F8-F18BA47C2676}"/>
              </a:ext>
            </a:extLst>
          </p:cNvPr>
          <p:cNvSpPr>
            <a:spLocks noGrp="1"/>
          </p:cNvSpPr>
          <p:nvPr/>
        </p:nvSpPr>
        <p:spPr>
          <a:xfrm>
            <a:off x="685800" y="1057275"/>
            <a:ext cx="857250" cy="57150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deck-title">
            <a:extLst>
              <a:ext uri="{FF2B5EF4-FFF2-40B4-BE49-F238E27FC236}">
                <a16:creationId xmlns:a16="http://schemas.microsoft.com/office/drawing/2014/main" id="{3599A760-E549-4DC0-8B3C-6EE918CE4A5B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723900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  <a:defRPr sz="39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Security Controls in</a:t>
            </a:r>
          </a:p>
          <a:p>
            <a:pPr algn="l">
              <a:lnSpc>
                <a:spcPct val="90000"/>
              </a:lnSpc>
              <a:buNone/>
              <a:defRPr sz="39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Shared Source Code</a:t>
            </a:r>
          </a:p>
          <a:p>
            <a:pPr algn="l">
              <a:lnSpc>
                <a:spcPct val="90000"/>
              </a:lnSpc>
              <a:buNone/>
              <a:defRPr sz="39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9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Repositories</a:t>
            </a:r>
          </a:p>
        </p:txBody>
      </p:sp>
      <p:sp>
        <p:nvSpPr>
          <p:cNvPr id="7" name="deck-subtitle">
            <a:extLst>
              <a:ext uri="{FF2B5EF4-FFF2-40B4-BE49-F238E27FC236}">
                <a16:creationId xmlns:a16="http://schemas.microsoft.com/office/drawing/2014/main" id="{EBB67BC6-4325-41DA-BCC2-54BBD60716E1}"/>
              </a:ext>
            </a:extLst>
          </p:cNvPr>
          <p:cNvSpPr>
            <a:spLocks noGrp="1"/>
          </p:cNvSpPr>
          <p:nvPr/>
        </p:nvSpPr>
        <p:spPr>
          <a:xfrm>
            <a:off x="704850" y="3886200"/>
            <a:ext cx="6572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0000"/>
              </a:lnSpc>
              <a:buNone/>
              <a:defRPr sz="1575" b="0" i="0">
                <a:solidFill>
                  <a:srgbClr val="C5D5DE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C5D5DE"/>
                </a:solidFill>
                <a:latin typeface="Aptos"/>
                <a:ea typeface="Aptos"/>
                <a:cs typeface="Aptos"/>
              </a:rPr>
              <a:t>Best practices for protecting identities, code changes, dependencies, secrets, and CI/CD automation.</a:t>
            </a:r>
          </a:p>
        </p:txBody>
      </p:sp>
      <p:sp>
        <p:nvSpPr>
          <p:cNvPr id="8" name="title-footer-rule">
            <a:extLst>
              <a:ext uri="{FF2B5EF4-FFF2-40B4-BE49-F238E27FC236}">
                <a16:creationId xmlns:a16="http://schemas.microsoft.com/office/drawing/2014/main" id="{503C5EA6-5C80-4B39-BBFC-66C426A5BA40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9525"/>
          </a:xfrm>
          <a:prstGeom prst="rect">
            <a:avLst/>
          </a:prstGeom>
          <a:solidFill>
            <a:srgbClr val="34506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udent-name">
            <a:extLst>
              <a:ext uri="{FF2B5EF4-FFF2-40B4-BE49-F238E27FC236}">
                <a16:creationId xmlns:a16="http://schemas.microsoft.com/office/drawing/2014/main" id="{47882B22-BD8F-4732-B343-954611186874}"/>
              </a:ext>
            </a:extLst>
          </p:cNvPr>
          <p:cNvSpPr>
            <a:spLocks noGrp="1"/>
          </p:cNvSpPr>
          <p:nvPr/>
        </p:nvSpPr>
        <p:spPr>
          <a:xfrm>
            <a:off x="685800" y="5819775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Jordan Dardar</a:t>
            </a:r>
          </a:p>
        </p:txBody>
      </p:sp>
      <p:sp>
        <p:nvSpPr>
          <p:cNvPr id="10" name="course-name">
            <a:extLst>
              <a:ext uri="{FF2B5EF4-FFF2-40B4-BE49-F238E27FC236}">
                <a16:creationId xmlns:a16="http://schemas.microsoft.com/office/drawing/2014/main" id="{6DF61E8D-BA2A-4149-8708-484BB224E2EA}"/>
              </a:ext>
            </a:extLst>
          </p:cNvPr>
          <p:cNvSpPr>
            <a:spLocks noGrp="1"/>
          </p:cNvSpPr>
          <p:nvPr/>
        </p:nvSpPr>
        <p:spPr>
          <a:xfrm>
            <a:off x="685800" y="6105525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88" b="0" i="0">
                <a:solidFill>
                  <a:srgbClr val="AFC2CC"/>
                </a:solidFill>
                <a:latin typeface="Aptos"/>
                <a:ea typeface="Aptos"/>
                <a:cs typeface="Aptos"/>
              </a:defRPr>
            </a:pPr>
            <a:r>
              <a:rPr sz="1088" b="0" i="0">
                <a:solidFill>
                  <a:srgbClr val="AFC2CC"/>
                </a:solidFill>
                <a:latin typeface="Aptos"/>
                <a:ea typeface="Aptos"/>
                <a:cs typeface="Aptos"/>
              </a:rPr>
              <a:t>CSD380-308A DevOps</a:t>
            </a:r>
          </a:p>
        </p:txBody>
      </p:sp>
      <p:sp>
        <p:nvSpPr>
          <p:cNvPr id="11" name="deck-date">
            <a:extLst>
              <a:ext uri="{FF2B5EF4-FFF2-40B4-BE49-F238E27FC236}">
                <a16:creationId xmlns:a16="http://schemas.microsoft.com/office/drawing/2014/main" id="{278100A4-DA40-4690-ACF1-4E31032A3A83}"/>
              </a:ext>
            </a:extLst>
          </p:cNvPr>
          <p:cNvSpPr>
            <a:spLocks noGrp="1"/>
          </p:cNvSpPr>
          <p:nvPr/>
        </p:nvSpPr>
        <p:spPr>
          <a:xfrm>
            <a:off x="9886950" y="591502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4000"/>
              </a:lnSpc>
              <a:buNone/>
              <a:defRPr sz="1200" b="0" i="0">
                <a:solidFill>
                  <a:srgbClr val="AFC2CC"/>
                </a:solidFill>
                <a:latin typeface="Aptos"/>
                <a:ea typeface="Aptos"/>
                <a:cs typeface="Aptos"/>
              </a:defRPr>
            </a:pPr>
            <a:endParaRPr sz="1200" b="0" i="0" dirty="0">
              <a:solidFill>
                <a:srgbClr val="AFC2CC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1495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ection-2">
            <a:extLst>
              <a:ext uri="{FF2B5EF4-FFF2-40B4-BE49-F238E27FC236}">
                <a16:creationId xmlns:a16="http://schemas.microsoft.com/office/drawing/2014/main" id="{14B09FB5-A18C-42C3-A042-0DE607AB30A1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rPr>
              <a:t>WHY CONTROLS MATTER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B48DDE5B-5689-415D-9446-EADDBB5C2733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712"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rPr>
              <a:t>Shared repositories expand the production attack surface</a:t>
            </a:r>
          </a:p>
        </p:txBody>
      </p:sp>
      <p:sp>
        <p:nvSpPr>
          <p:cNvPr id="3" name="accent-2">
            <a:extLst>
              <a:ext uri="{FF2B5EF4-FFF2-40B4-BE49-F238E27FC236}">
                <a16:creationId xmlns:a16="http://schemas.microsoft.com/office/drawing/2014/main" id="{7CB5578D-EBDA-4904-8D26-160FBE54F38B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239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60E82C-192D-414D-8FD0-03F7801B5CCB}"/>
              </a:ext>
            </a:extLst>
          </p:cNvPr>
          <p:cNvSpPr>
            <a:spLocks noGrp="1"/>
          </p:cNvSpPr>
          <p:nvPr/>
        </p:nvSpPr>
        <p:spPr>
          <a:xfrm>
            <a:off x="666750" y="1657350"/>
            <a:ext cx="3524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THE REPOSITORY HOLDS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B59810-EAF1-43B8-8FF4-DBCA64448417}"/>
              </a:ext>
            </a:extLst>
          </p:cNvPr>
          <p:cNvSpPr>
            <a:spLocks noGrp="1"/>
          </p:cNvSpPr>
          <p:nvPr/>
        </p:nvSpPr>
        <p:spPr>
          <a:xfrm>
            <a:off x="666750" y="1952625"/>
            <a:ext cx="4000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2175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rPr>
              <a:t>More than source code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E9CC4E-F87F-4D5F-8E4D-0E2D6D50EAD1}"/>
              </a:ext>
            </a:extLst>
          </p:cNvPr>
          <p:cNvSpPr>
            <a:spLocks noGrp="1"/>
          </p:cNvSpPr>
          <p:nvPr/>
        </p:nvSpPr>
        <p:spPr>
          <a:xfrm>
            <a:off x="704850" y="2686050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0D0424-C131-4B51-A6CC-597488A2E74F}"/>
              </a:ext>
            </a:extLst>
          </p:cNvPr>
          <p:cNvSpPr>
            <a:spLocks noGrp="1"/>
          </p:cNvSpPr>
          <p:nvPr/>
        </p:nvSpPr>
        <p:spPr>
          <a:xfrm>
            <a:off x="895350" y="2619375"/>
            <a:ext cx="457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Intellectual property </a:t>
            </a:r>
            <a:r>
              <a:rPr sz="1350">
                <a:solidFill>
                  <a:srgbClr val="102637"/>
                </a:solidFill>
                <a:latin typeface="Aptos"/>
                <a:ea typeface="Aptos"/>
                <a:cs typeface="Aptos"/>
              </a:rPr>
              <a:t>Application logic, internal services, and design decisions.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27215A-B608-4462-A323-A41E3305F093}"/>
              </a:ext>
            </a:extLst>
          </p:cNvPr>
          <p:cNvSpPr>
            <a:spLocks noGrp="1"/>
          </p:cNvSpPr>
          <p:nvPr/>
        </p:nvSpPr>
        <p:spPr>
          <a:xfrm>
            <a:off x="704850" y="3390900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C0F000-C5FA-42C9-BE1E-48B16243CEDD}"/>
              </a:ext>
            </a:extLst>
          </p:cNvPr>
          <p:cNvSpPr>
            <a:spLocks noGrp="1"/>
          </p:cNvSpPr>
          <p:nvPr/>
        </p:nvSpPr>
        <p:spPr>
          <a:xfrm>
            <a:off x="895350" y="3324225"/>
            <a:ext cx="457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Delivery authority </a:t>
            </a:r>
            <a:r>
              <a:rPr sz="1350">
                <a:solidFill>
                  <a:srgbClr val="102637"/>
                </a:solidFill>
                <a:latin typeface="Aptos"/>
                <a:ea typeface="Aptos"/>
                <a:cs typeface="Aptos"/>
              </a:rPr>
              <a:t>Workflow files can build, sign, publish, and deploy releases.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1F21F2-2228-4566-9998-DD5C26D10BF5}"/>
              </a:ext>
            </a:extLst>
          </p:cNvPr>
          <p:cNvSpPr>
            <a:spLocks noGrp="1"/>
          </p:cNvSpPr>
          <p:nvPr/>
        </p:nvSpPr>
        <p:spPr>
          <a:xfrm>
            <a:off x="704850" y="4095750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D35778-2B5F-4C56-91AB-A21001C9C371}"/>
              </a:ext>
            </a:extLst>
          </p:cNvPr>
          <p:cNvSpPr>
            <a:spLocks noGrp="1"/>
          </p:cNvSpPr>
          <p:nvPr/>
        </p:nvSpPr>
        <p:spPr>
          <a:xfrm>
            <a:off x="895350" y="4029075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Sensitive context </a:t>
            </a:r>
            <a:r>
              <a:rPr sz="1350">
                <a:solidFill>
                  <a:srgbClr val="102637"/>
                </a:solidFill>
                <a:latin typeface="Aptos"/>
                <a:ea typeface="Aptos"/>
                <a:cs typeface="Aptos"/>
              </a:rPr>
              <a:t>Configuration, dependency data, issue history, and references to secrets.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8FE3F-BF9D-48B0-B784-D744D99AC650}"/>
              </a:ext>
            </a:extLst>
          </p:cNvPr>
          <p:cNvSpPr>
            <a:spLocks noGrp="1"/>
          </p:cNvSpPr>
          <p:nvPr/>
        </p:nvSpPr>
        <p:spPr>
          <a:xfrm>
            <a:off x="6191250" y="1657350"/>
            <a:ext cx="485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D95B5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D95B5B"/>
                </a:solidFill>
                <a:latin typeface="Aptos"/>
                <a:ea typeface="Aptos"/>
                <a:cs typeface="Aptos"/>
              </a:rPr>
              <a:t>A SINGLE COMPROMISE CAN TRAVEL</a:t>
            </a:r>
          </a:p>
        </p:txBody>
      </p:sp>
      <p:sp>
        <p:nvSpPr>
          <p:cNvPr id="14" name="risk-step-1">
            <a:extLst>
              <a:ext uri="{FF2B5EF4-FFF2-40B4-BE49-F238E27FC236}">
                <a16:creationId xmlns:a16="http://schemas.microsoft.com/office/drawing/2014/main" id="{22B974D8-F2A7-412D-9223-1F7DB4D9940B}"/>
              </a:ext>
            </a:extLst>
          </p:cNvPr>
          <p:cNvSpPr>
            <a:spLocks noGrp="1"/>
          </p:cNvSpPr>
          <p:nvPr/>
        </p:nvSpPr>
        <p:spPr>
          <a:xfrm>
            <a:off x="6191250" y="2095500"/>
            <a:ext cx="5048250" cy="666750"/>
          </a:xfrm>
          <a:prstGeom prst="roundRect">
            <a:avLst>
              <a:gd name="adj" fmla="val 20000"/>
            </a:avLst>
          </a:prstGeom>
          <a:solidFill>
            <a:srgbClr val="FBE5E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C53A65-CBC3-4EA9-BAE8-232422518ABC}"/>
              </a:ext>
            </a:extLst>
          </p:cNvPr>
          <p:cNvSpPr>
            <a:spLocks noGrp="1"/>
          </p:cNvSpPr>
          <p:nvPr/>
        </p:nvSpPr>
        <p:spPr>
          <a:xfrm>
            <a:off x="6362700" y="2266950"/>
            <a:ext cx="400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D95B5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D95B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AAC804-1F98-4118-A7F9-8148F3C59532}"/>
              </a:ext>
            </a:extLst>
          </p:cNvPr>
          <p:cNvSpPr>
            <a:spLocks noGrp="1"/>
          </p:cNvSpPr>
          <p:nvPr/>
        </p:nvSpPr>
        <p:spPr>
          <a:xfrm>
            <a:off x="6819900" y="2200275"/>
            <a:ext cx="1809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13" b="1" i="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313" b="1" i="0">
                <a:solidFill>
                  <a:srgbClr val="102637"/>
                </a:solidFill>
                <a:latin typeface="Aptos"/>
                <a:ea typeface="Aptos"/>
                <a:cs typeface="Aptos"/>
              </a:rPr>
              <a:t>Stolen identity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B9E461-4AAE-4F05-9162-7F5C63CDE782}"/>
              </a:ext>
            </a:extLst>
          </p:cNvPr>
          <p:cNvSpPr>
            <a:spLocks noGrp="1"/>
          </p:cNvSpPr>
          <p:nvPr/>
        </p:nvSpPr>
        <p:spPr>
          <a:xfrm>
            <a:off x="6819900" y="2438400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88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088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An attacker gains write or administrative access.</a:t>
            </a:r>
          </a:p>
        </p:txBody>
      </p:sp>
      <p:sp>
        <p:nvSpPr>
          <p:cNvPr id="18" name="risk-step-2">
            <a:extLst>
              <a:ext uri="{FF2B5EF4-FFF2-40B4-BE49-F238E27FC236}">
                <a16:creationId xmlns:a16="http://schemas.microsoft.com/office/drawing/2014/main" id="{B749B83E-75DF-442E-A42E-690E5D426AF3}"/>
              </a:ext>
            </a:extLst>
          </p:cNvPr>
          <p:cNvSpPr>
            <a:spLocks noGrp="1"/>
          </p:cNvSpPr>
          <p:nvPr/>
        </p:nvSpPr>
        <p:spPr>
          <a:xfrm>
            <a:off x="6191250" y="2933700"/>
            <a:ext cx="5048250" cy="666750"/>
          </a:xfrm>
          <a:prstGeom prst="roundRect">
            <a:avLst>
              <a:gd name="adj" fmla="val 20000"/>
            </a:avLst>
          </a:prstGeom>
          <a:solidFill>
            <a:srgbClr val="FFF1D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0CC19F-0C94-4079-85B7-79C91019B22D}"/>
              </a:ext>
            </a:extLst>
          </p:cNvPr>
          <p:cNvSpPr>
            <a:spLocks noGrp="1"/>
          </p:cNvSpPr>
          <p:nvPr/>
        </p:nvSpPr>
        <p:spPr>
          <a:xfrm>
            <a:off x="6362700" y="3105150"/>
            <a:ext cx="400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4D8498-2581-4938-92B2-9A41F0259E79}"/>
              </a:ext>
            </a:extLst>
          </p:cNvPr>
          <p:cNvSpPr>
            <a:spLocks noGrp="1"/>
          </p:cNvSpPr>
          <p:nvPr/>
        </p:nvSpPr>
        <p:spPr>
          <a:xfrm>
            <a:off x="6819900" y="3038475"/>
            <a:ext cx="1809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13" b="1" i="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313" b="1" i="0">
                <a:solidFill>
                  <a:srgbClr val="102637"/>
                </a:solidFill>
                <a:latin typeface="Aptos"/>
                <a:ea typeface="Aptos"/>
                <a:cs typeface="Aptos"/>
              </a:rPr>
              <a:t>Malicious change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AEAD372-92B1-423B-889A-E7DC4E3CFB1C}"/>
              </a:ext>
            </a:extLst>
          </p:cNvPr>
          <p:cNvSpPr>
            <a:spLocks noGrp="1"/>
          </p:cNvSpPr>
          <p:nvPr/>
        </p:nvSpPr>
        <p:spPr>
          <a:xfrm>
            <a:off x="6819900" y="3276600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88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088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Code or workflow logic is altered and presented as trusted work.</a:t>
            </a:r>
          </a:p>
        </p:txBody>
      </p:sp>
      <p:sp>
        <p:nvSpPr>
          <p:cNvPr id="22" name="risk-step-3">
            <a:extLst>
              <a:ext uri="{FF2B5EF4-FFF2-40B4-BE49-F238E27FC236}">
                <a16:creationId xmlns:a16="http://schemas.microsoft.com/office/drawing/2014/main" id="{68C71989-C1C6-4DF8-9E59-9681AC9F09A1}"/>
              </a:ext>
            </a:extLst>
          </p:cNvPr>
          <p:cNvSpPr>
            <a:spLocks noGrp="1"/>
          </p:cNvSpPr>
          <p:nvPr/>
        </p:nvSpPr>
        <p:spPr>
          <a:xfrm>
            <a:off x="6191250" y="3771900"/>
            <a:ext cx="5048250" cy="666750"/>
          </a:xfrm>
          <a:prstGeom prst="roundRect">
            <a:avLst>
              <a:gd name="adj" fmla="val 20000"/>
            </a:avLst>
          </a:prstGeom>
          <a:solidFill>
            <a:srgbClr val="DDF4F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876603-D644-4F10-A236-0396928CA1C3}"/>
              </a:ext>
            </a:extLst>
          </p:cNvPr>
          <p:cNvSpPr>
            <a:spLocks noGrp="1"/>
          </p:cNvSpPr>
          <p:nvPr/>
        </p:nvSpPr>
        <p:spPr>
          <a:xfrm>
            <a:off x="6362700" y="3943350"/>
            <a:ext cx="400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798C87-049D-4DF8-9F9C-A87E4DB47B1E}"/>
              </a:ext>
            </a:extLst>
          </p:cNvPr>
          <p:cNvSpPr>
            <a:spLocks noGrp="1"/>
          </p:cNvSpPr>
          <p:nvPr/>
        </p:nvSpPr>
        <p:spPr>
          <a:xfrm>
            <a:off x="6819900" y="3876675"/>
            <a:ext cx="1809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13" b="1" i="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313" b="1" i="0">
                <a:solidFill>
                  <a:srgbClr val="102637"/>
                </a:solidFill>
                <a:latin typeface="Aptos"/>
                <a:ea typeface="Aptos"/>
                <a:cs typeface="Aptos"/>
              </a:rPr>
              <a:t>Trusted automation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ACC04B-AFE3-40C4-A302-6521E3615D96}"/>
              </a:ext>
            </a:extLst>
          </p:cNvPr>
          <p:cNvSpPr>
            <a:spLocks noGrp="1"/>
          </p:cNvSpPr>
          <p:nvPr/>
        </p:nvSpPr>
        <p:spPr>
          <a:xfrm>
            <a:off x="6819900" y="4114800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88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088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CI builds the change with repository and cloud permissions.</a:t>
            </a:r>
          </a:p>
        </p:txBody>
      </p:sp>
      <p:sp>
        <p:nvSpPr>
          <p:cNvPr id="26" name="risk-step-4">
            <a:extLst>
              <a:ext uri="{FF2B5EF4-FFF2-40B4-BE49-F238E27FC236}">
                <a16:creationId xmlns:a16="http://schemas.microsoft.com/office/drawing/2014/main" id="{292C7065-C6BA-4428-8DA7-1E9C6F08807F}"/>
              </a:ext>
            </a:extLst>
          </p:cNvPr>
          <p:cNvSpPr>
            <a:spLocks noGrp="1"/>
          </p:cNvSpPr>
          <p:nvPr/>
        </p:nvSpPr>
        <p:spPr>
          <a:xfrm>
            <a:off x="6191250" y="4610100"/>
            <a:ext cx="5048250" cy="666750"/>
          </a:xfrm>
          <a:prstGeom prst="roundRect">
            <a:avLst>
              <a:gd name="adj" fmla="val 20000"/>
            </a:avLst>
          </a:prstGeom>
          <a:solidFill>
            <a:srgbClr val="E4ECF3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5D0394-596D-4A32-B4D0-EE2186E54806}"/>
              </a:ext>
            </a:extLst>
          </p:cNvPr>
          <p:cNvSpPr>
            <a:spLocks noGrp="1"/>
          </p:cNvSpPr>
          <p:nvPr/>
        </p:nvSpPr>
        <p:spPr>
          <a:xfrm>
            <a:off x="6362700" y="4781550"/>
            <a:ext cx="4000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E85226-9DED-4C00-9C98-E0B1BE1CA43E}"/>
              </a:ext>
            </a:extLst>
          </p:cNvPr>
          <p:cNvSpPr>
            <a:spLocks noGrp="1"/>
          </p:cNvSpPr>
          <p:nvPr/>
        </p:nvSpPr>
        <p:spPr>
          <a:xfrm>
            <a:off x="6819900" y="4714875"/>
            <a:ext cx="1809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313" b="1" i="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313" b="1" i="0">
                <a:solidFill>
                  <a:srgbClr val="102637"/>
                </a:solidFill>
                <a:latin typeface="Aptos"/>
                <a:ea typeface="Aptos"/>
                <a:cs typeface="Aptos"/>
              </a:rPr>
              <a:t>Production impact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C0A8DE8-764F-4F55-97A5-3ADAD0DDF781}"/>
              </a:ext>
            </a:extLst>
          </p:cNvPr>
          <p:cNvSpPr>
            <a:spLocks noGrp="1"/>
          </p:cNvSpPr>
          <p:nvPr/>
        </p:nvSpPr>
        <p:spPr>
          <a:xfrm>
            <a:off x="6819900" y="4953000"/>
            <a:ext cx="419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88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088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A signed package or deployment distributes the compromise.</a:t>
            </a:r>
          </a:p>
        </p:txBody>
      </p:sp>
      <p:sp>
        <p:nvSpPr>
          <p:cNvPr id="30" name="risk-takeaway">
            <a:extLst>
              <a:ext uri="{FF2B5EF4-FFF2-40B4-BE49-F238E27FC236}">
                <a16:creationId xmlns:a16="http://schemas.microsoft.com/office/drawing/2014/main" id="{862206B8-5FA0-4875-85DB-31DC89A2ED39}"/>
              </a:ext>
            </a:extLst>
          </p:cNvPr>
          <p:cNvSpPr>
            <a:spLocks noGrp="1"/>
          </p:cNvSpPr>
          <p:nvPr/>
        </p:nvSpPr>
        <p:spPr>
          <a:xfrm>
            <a:off x="666750" y="5543550"/>
            <a:ext cx="10572750" cy="542925"/>
          </a:xfrm>
          <a:prstGeom prst="roundRect">
            <a:avLst>
              <a:gd name="adj" fmla="val 17544"/>
            </a:avLst>
          </a:prstGeom>
          <a:solidFill>
            <a:srgbClr val="07172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171D427-5EEF-40E3-AB18-2FEB2E8E0DD3}"/>
              </a:ext>
            </a:extLst>
          </p:cNvPr>
          <p:cNvSpPr>
            <a:spLocks noGrp="1"/>
          </p:cNvSpPr>
          <p:nvPr/>
        </p:nvSpPr>
        <p:spPr>
          <a:xfrm>
            <a:off x="895350" y="5676900"/>
            <a:ext cx="100965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 must protect the people, the changes, and the automation—not only the source files.</a:t>
            </a:r>
          </a:p>
        </p:txBody>
      </p:sp>
      <p:sp>
        <p:nvSpPr>
          <p:cNvPr id="33" name="footer-rule-2">
            <a:extLst>
              <a:ext uri="{FF2B5EF4-FFF2-40B4-BE49-F238E27FC236}">
                <a16:creationId xmlns:a16="http://schemas.microsoft.com/office/drawing/2014/main" id="{816EB56B-EAE0-4213-B229-4FEADFA5AC93}"/>
              </a:ext>
            </a:extLst>
          </p:cNvPr>
          <p:cNvSpPr>
            <a:spLocks noGrp="1"/>
          </p:cNvSpPr>
          <p:nvPr/>
        </p:nvSpPr>
        <p:spPr>
          <a:xfrm>
            <a:off x="609600" y="6638925"/>
            <a:ext cx="10972800" cy="9525"/>
          </a:xfrm>
          <a:prstGeom prst="rect">
            <a:avLst/>
          </a:prstGeom>
          <a:solidFill>
            <a:srgbClr val="CFD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page-footer-2">
            <a:extLst>
              <a:ext uri="{FF2B5EF4-FFF2-40B4-BE49-F238E27FC236}">
                <a16:creationId xmlns:a16="http://schemas.microsoft.com/office/drawing/2014/main" id="{BE32B910-F029-4CD0-B7C1-59E32074F344}"/>
              </a:ext>
            </a:extLst>
          </p:cNvPr>
          <p:cNvSpPr>
            <a:spLocks noGrp="1"/>
          </p:cNvSpPr>
          <p:nvPr/>
        </p:nvSpPr>
        <p:spPr>
          <a:xfrm>
            <a:off x="11239500" y="6677025"/>
            <a:ext cx="342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4000"/>
              </a:lnSpc>
              <a:buNone/>
              <a:defRPr sz="750" b="1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76183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ection-3">
            <a:extLst>
              <a:ext uri="{FF2B5EF4-FFF2-40B4-BE49-F238E27FC236}">
                <a16:creationId xmlns:a16="http://schemas.microsoft.com/office/drawing/2014/main" id="{C4371907-AD74-4004-AE45-36FC3AF0493D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rPr>
              <a:t>CONTROL 1 — ACCESS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000DDCBF-3001-4114-8555-AC0BD45B3723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rPr>
              <a:t>Verify every identity and reduce standing privilege</a:t>
            </a:r>
          </a:p>
        </p:txBody>
      </p:sp>
      <p:sp>
        <p:nvSpPr>
          <p:cNvPr id="3" name="accent-3">
            <a:extLst>
              <a:ext uri="{FF2B5EF4-FFF2-40B4-BE49-F238E27FC236}">
                <a16:creationId xmlns:a16="http://schemas.microsoft.com/office/drawing/2014/main" id="{C8B78ACF-6B29-4119-929F-92851CF56732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239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number-3">
            <a:extLst>
              <a:ext uri="{FF2B5EF4-FFF2-40B4-BE49-F238E27FC236}">
                <a16:creationId xmlns:a16="http://schemas.microsoft.com/office/drawing/2014/main" id="{3C30B555-8AC0-49E7-97D6-BCF27A59B45C}"/>
              </a:ext>
            </a:extLst>
          </p:cNvPr>
          <p:cNvSpPr>
            <a:spLocks noGrp="1"/>
          </p:cNvSpPr>
          <p:nvPr/>
        </p:nvSpPr>
        <p:spPr>
          <a:xfrm>
            <a:off x="11144250" y="36195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4000"/>
              </a:lnSpc>
              <a:buNone/>
              <a:defRPr sz="1200" b="1" i="0">
                <a:solidFill>
                  <a:srgbClr val="5A6D7B"/>
                </a:solidFill>
                <a:latin typeface="Aptos Display"/>
                <a:ea typeface="Aptos Display"/>
                <a:cs typeface="Aptos Display"/>
              </a:defRPr>
            </a:pPr>
            <a:endParaRPr sz="1200" b="1" i="0" dirty="0">
              <a:solidFill>
                <a:srgbClr val="5A6D7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access-number">
            <a:extLst>
              <a:ext uri="{FF2B5EF4-FFF2-40B4-BE49-F238E27FC236}">
                <a16:creationId xmlns:a16="http://schemas.microsoft.com/office/drawing/2014/main" id="{9610CB9E-57CA-4C10-99BF-902577A3AE2C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2381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570"/>
          </a:bodyPr>
          <a:lstStyle/>
          <a:p>
            <a:pPr algn="l">
              <a:lnSpc>
                <a:spcPct val="104000"/>
              </a:lnSpc>
              <a:buNone/>
              <a:defRPr sz="9450" b="1" i="0">
                <a:solidFill>
                  <a:srgbClr val="DDF4F2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 i="0">
                <a:solidFill>
                  <a:srgbClr val="DDF4F2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BFC3F8-CDE5-45B7-BAB3-88EF3B8DBC2F}"/>
              </a:ext>
            </a:extLst>
          </p:cNvPr>
          <p:cNvSpPr>
            <a:spLocks noGrp="1"/>
          </p:cNvSpPr>
          <p:nvPr/>
        </p:nvSpPr>
        <p:spPr>
          <a:xfrm>
            <a:off x="704850" y="3381375"/>
            <a:ext cx="3333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62"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rPr>
              <a:t>A password should never be the only barrier between an account and production code.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935FF7-F882-4897-9960-C661CC16C5F3}"/>
              </a:ext>
            </a:extLst>
          </p:cNvPr>
          <p:cNvSpPr>
            <a:spLocks noGrp="1"/>
          </p:cNvSpPr>
          <p:nvPr/>
        </p:nvSpPr>
        <p:spPr>
          <a:xfrm>
            <a:off x="704850" y="4638675"/>
            <a:ext cx="2857500" cy="19050"/>
          </a:xfrm>
          <a:prstGeom prst="rect">
            <a:avLst/>
          </a:prstGeom>
          <a:solidFill>
            <a:srgbClr val="CFD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932A6F-1BAD-4644-90DB-3437E8516969}"/>
              </a:ext>
            </a:extLst>
          </p:cNvPr>
          <p:cNvSpPr>
            <a:spLocks noGrp="1"/>
          </p:cNvSpPr>
          <p:nvPr/>
        </p:nvSpPr>
        <p:spPr>
          <a:xfrm>
            <a:off x="704850" y="48482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Default posture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95F39B1-0593-4FE5-8B3F-3D3995E2894A}"/>
              </a:ext>
            </a:extLst>
          </p:cNvPr>
          <p:cNvSpPr>
            <a:spLocks noGrp="1"/>
          </p:cNvSpPr>
          <p:nvPr/>
        </p:nvSpPr>
        <p:spPr>
          <a:xfrm>
            <a:off x="704850" y="51244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75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No shared accounts. Admin access is exceptional, time-limited, and logged.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E4DEBF-4CAE-4546-870D-086C3156AE10}"/>
              </a:ext>
            </a:extLst>
          </p:cNvPr>
          <p:cNvSpPr>
            <a:spLocks noGrp="1"/>
          </p:cNvSpPr>
          <p:nvPr/>
        </p:nvSpPr>
        <p:spPr>
          <a:xfrm>
            <a:off x="4476750" y="171450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IDENTITY CONTROLS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89293D-D7C1-4F5E-A0A7-C509C0BAB915}"/>
              </a:ext>
            </a:extLst>
          </p:cNvPr>
          <p:cNvSpPr>
            <a:spLocks noGrp="1"/>
          </p:cNvSpPr>
          <p:nvPr/>
        </p:nvSpPr>
        <p:spPr>
          <a:xfrm>
            <a:off x="4476750" y="2162175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747FFE-F86C-4DFE-A412-94396CB3F026}"/>
              </a:ext>
            </a:extLst>
          </p:cNvPr>
          <p:cNvSpPr>
            <a:spLocks noGrp="1"/>
          </p:cNvSpPr>
          <p:nvPr/>
        </p:nvSpPr>
        <p:spPr>
          <a:xfrm>
            <a:off x="4667250" y="2095500"/>
            <a:ext cx="638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Require 2FA or enterprise SSO. </a:t>
            </a:r>
            <a:r>
              <a:rPr sz="1350">
                <a:solidFill>
                  <a:srgbClr val="102637"/>
                </a:solidFill>
                <a:latin typeface="Aptos"/>
                <a:ea typeface="Aptos"/>
                <a:cs typeface="Aptos"/>
              </a:rPr>
              <a:t>Apply it to members, administrators, and outside collaborators.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2654E35-6930-4CDA-A02F-20F1DE387D92}"/>
              </a:ext>
            </a:extLst>
          </p:cNvPr>
          <p:cNvSpPr>
            <a:spLocks noGrp="1"/>
          </p:cNvSpPr>
          <p:nvPr/>
        </p:nvSpPr>
        <p:spPr>
          <a:xfrm>
            <a:off x="4476750" y="2847975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2E829E-B387-4AC1-8C47-87C7050BB9F2}"/>
              </a:ext>
            </a:extLst>
          </p:cNvPr>
          <p:cNvSpPr>
            <a:spLocks noGrp="1"/>
          </p:cNvSpPr>
          <p:nvPr/>
        </p:nvSpPr>
        <p:spPr>
          <a:xfrm>
            <a:off x="4667250" y="2781300"/>
            <a:ext cx="638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Assign access through teams. </a:t>
            </a:r>
            <a:r>
              <a:rPr sz="1350">
                <a:solidFill>
                  <a:srgbClr val="102637"/>
                </a:solidFill>
                <a:latin typeface="Aptos"/>
                <a:ea typeface="Aptos"/>
                <a:cs typeface="Aptos"/>
              </a:rPr>
              <a:t>Use the lowest repository role that supports the person’s work.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45C240-6B95-4826-A4C6-46D6F3099EAA}"/>
              </a:ext>
            </a:extLst>
          </p:cNvPr>
          <p:cNvSpPr>
            <a:spLocks noGrp="1"/>
          </p:cNvSpPr>
          <p:nvPr/>
        </p:nvSpPr>
        <p:spPr>
          <a:xfrm>
            <a:off x="4476750" y="3533775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7E50B7-E73A-443D-8121-2C5F18FBCE31}"/>
              </a:ext>
            </a:extLst>
          </p:cNvPr>
          <p:cNvSpPr>
            <a:spLocks noGrp="1"/>
          </p:cNvSpPr>
          <p:nvPr/>
        </p:nvSpPr>
        <p:spPr>
          <a:xfrm>
            <a:off x="4667250" y="3467100"/>
            <a:ext cx="638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Separate human and automation identities. </a:t>
            </a:r>
            <a:r>
              <a:rPr sz="1350">
                <a:solidFill>
                  <a:srgbClr val="102637"/>
                </a:solidFill>
                <a:latin typeface="Aptos"/>
                <a:ea typeface="Aptos"/>
                <a:cs typeface="Aptos"/>
              </a:rPr>
              <a:t>Prefer GitHub Apps, fine-grained tokens, and short-lived credentials.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BF8812-D56F-4527-9E24-8111705B085B}"/>
              </a:ext>
            </a:extLst>
          </p:cNvPr>
          <p:cNvSpPr>
            <a:spLocks noGrp="1"/>
          </p:cNvSpPr>
          <p:nvPr/>
        </p:nvSpPr>
        <p:spPr>
          <a:xfrm>
            <a:off x="4476750" y="4219575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0D927A-E9C9-473D-8A7F-65E59E1A70B5}"/>
              </a:ext>
            </a:extLst>
          </p:cNvPr>
          <p:cNvSpPr>
            <a:spLocks noGrp="1"/>
          </p:cNvSpPr>
          <p:nvPr/>
        </p:nvSpPr>
        <p:spPr>
          <a:xfrm>
            <a:off x="4667250" y="4152900"/>
            <a:ext cx="6381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Review access on a schedule. </a:t>
            </a:r>
            <a:r>
              <a:rPr sz="1350">
                <a:solidFill>
                  <a:srgbClr val="102637"/>
                </a:solidFill>
                <a:latin typeface="Aptos"/>
                <a:ea typeface="Aptos"/>
                <a:cs typeface="Aptos"/>
              </a:rPr>
              <a:t>Remove inactive collaborators, stale keys, unused apps, and unnecessary admins.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F425570-8372-4433-8EEE-B16989A2650E}"/>
              </a:ext>
            </a:extLst>
          </p:cNvPr>
          <p:cNvSpPr>
            <a:spLocks noGrp="1"/>
          </p:cNvSpPr>
          <p:nvPr/>
        </p:nvSpPr>
        <p:spPr>
          <a:xfrm>
            <a:off x="4476750" y="5038725"/>
            <a:ext cx="6572250" cy="828675"/>
          </a:xfrm>
          <a:prstGeom prst="roundRect">
            <a:avLst>
              <a:gd name="adj" fmla="val 13793"/>
            </a:avLst>
          </a:prstGeom>
          <a:solidFill>
            <a:srgbClr val="F5F8F9"/>
          </a:solidFill>
          <a:ln w="9525">
            <a:solidFill>
              <a:srgbClr val="CFDC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36C2DC-BFFF-4EEA-A755-9DF624362980}"/>
              </a:ext>
            </a:extLst>
          </p:cNvPr>
          <p:cNvSpPr>
            <a:spLocks noGrp="1"/>
          </p:cNvSpPr>
          <p:nvPr/>
        </p:nvSpPr>
        <p:spPr>
          <a:xfrm>
            <a:off x="4667250" y="5219700"/>
            <a:ext cx="781050" cy="247650"/>
          </a:xfrm>
          <a:prstGeom prst="roundRect">
            <a:avLst>
              <a:gd name="adj" fmla="val 50000"/>
            </a:avLst>
          </a:prstGeom>
          <a:solidFill>
            <a:srgbClr val="DDF4F2"/>
          </a:solidFill>
          <a:ln w="0">
            <a:noFill/>
            <a:prstDash val="solid"/>
          </a:ln>
        </p:spPr>
        <p:txBody>
          <a:bodyPr lIns="76200" tIns="19050" rIns="76200" bIns="19050" anchor="ctr">
            <a:normAutofit/>
          </a:bodyPr>
          <a:lstStyle/>
          <a:p>
            <a:pPr algn="ctr">
              <a:defRPr sz="863" b="1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B7774"/>
                </a:solidFill>
                <a:latin typeface="Aptos"/>
                <a:ea typeface="Aptos"/>
                <a:cs typeface="Aptos"/>
              </a:rPr>
              <a:t>HUMAN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9E3ED4-E029-4EA3-97C2-A2F28D998D6E}"/>
              </a:ext>
            </a:extLst>
          </p:cNvPr>
          <p:cNvSpPr>
            <a:spLocks noGrp="1"/>
          </p:cNvSpPr>
          <p:nvPr/>
        </p:nvSpPr>
        <p:spPr>
          <a:xfrm>
            <a:off x="5619750" y="52387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069"/>
          </a:bodyPr>
          <a:lstStyle/>
          <a:p>
            <a:pPr algn="l">
              <a:lnSpc>
                <a:spcPct val="104000"/>
              </a:lnSpc>
              <a:buNone/>
              <a:defRPr sz="1163" b="0" i="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102637"/>
                </a:solidFill>
                <a:latin typeface="Aptos"/>
                <a:ea typeface="Aptos"/>
                <a:cs typeface="Aptos"/>
              </a:rPr>
              <a:t>Named account  •  2FA/SSO  •  team role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8449D86-BAD5-4149-B236-47EF8E8DFA2F}"/>
              </a:ext>
            </a:extLst>
          </p:cNvPr>
          <p:cNvSpPr>
            <a:spLocks noGrp="1"/>
          </p:cNvSpPr>
          <p:nvPr/>
        </p:nvSpPr>
        <p:spPr>
          <a:xfrm>
            <a:off x="8096250" y="5219700"/>
            <a:ext cx="1066800" cy="247650"/>
          </a:xfrm>
          <a:prstGeom prst="roundRect">
            <a:avLst>
              <a:gd name="adj" fmla="val 50000"/>
            </a:avLst>
          </a:prstGeom>
          <a:solidFill>
            <a:srgbClr val="FFF1D2"/>
          </a:solidFill>
          <a:ln w="0">
            <a:noFill/>
            <a:prstDash val="solid"/>
          </a:ln>
        </p:spPr>
        <p:txBody>
          <a:bodyPr lIns="76200" tIns="19050" rIns="76200" bIns="19050" anchor="ctr">
            <a:normAutofit/>
          </a:bodyPr>
          <a:lstStyle/>
          <a:p>
            <a:pPr algn="ctr">
              <a:defRPr sz="863" b="1">
                <a:solidFill>
                  <a:srgbClr val="8A5A0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8A5A00"/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39F442-29B8-42A5-8BBF-35A741B5E574}"/>
              </a:ext>
            </a:extLst>
          </p:cNvPr>
          <p:cNvSpPr>
            <a:spLocks noGrp="1"/>
          </p:cNvSpPr>
          <p:nvPr/>
        </p:nvSpPr>
        <p:spPr>
          <a:xfrm>
            <a:off x="9296400" y="52387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0" i="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102637"/>
                </a:solidFill>
                <a:latin typeface="Aptos"/>
                <a:ea typeface="Aptos"/>
                <a:cs typeface="Aptos"/>
              </a:rPr>
              <a:t>Minimum scopes  •  short lifetime</a:t>
            </a:r>
          </a:p>
        </p:txBody>
      </p:sp>
      <p:sp>
        <p:nvSpPr>
          <p:cNvPr id="25" name="footer-rule-3">
            <a:extLst>
              <a:ext uri="{FF2B5EF4-FFF2-40B4-BE49-F238E27FC236}">
                <a16:creationId xmlns:a16="http://schemas.microsoft.com/office/drawing/2014/main" id="{43CF743C-C527-4217-BBC4-DE0AC7050C1F}"/>
              </a:ext>
            </a:extLst>
          </p:cNvPr>
          <p:cNvSpPr>
            <a:spLocks noGrp="1"/>
          </p:cNvSpPr>
          <p:nvPr/>
        </p:nvSpPr>
        <p:spPr>
          <a:xfrm>
            <a:off x="609600" y="6638925"/>
            <a:ext cx="10972800" cy="9525"/>
          </a:xfrm>
          <a:prstGeom prst="rect">
            <a:avLst/>
          </a:prstGeom>
          <a:solidFill>
            <a:srgbClr val="CFD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page-footer-3">
            <a:extLst>
              <a:ext uri="{FF2B5EF4-FFF2-40B4-BE49-F238E27FC236}">
                <a16:creationId xmlns:a16="http://schemas.microsoft.com/office/drawing/2014/main" id="{0E80C47C-1D18-4F9E-80E6-6099D4C6A403}"/>
              </a:ext>
            </a:extLst>
          </p:cNvPr>
          <p:cNvSpPr>
            <a:spLocks noGrp="1"/>
          </p:cNvSpPr>
          <p:nvPr/>
        </p:nvSpPr>
        <p:spPr>
          <a:xfrm>
            <a:off x="11239500" y="6677025"/>
            <a:ext cx="342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4000"/>
              </a:lnSpc>
              <a:buNone/>
              <a:defRPr sz="750" b="1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94999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-4">
            <a:extLst>
              <a:ext uri="{FF2B5EF4-FFF2-40B4-BE49-F238E27FC236}">
                <a16:creationId xmlns:a16="http://schemas.microsoft.com/office/drawing/2014/main" id="{3B281F7E-9F3C-44B6-A3DD-13A5BE953364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rPr>
              <a:t>CONTROL 2 — CHANGE INTEGRITY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E4109ED9-03C7-4850-B606-0ED897B9CDAE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rPr>
              <a:t>Make protected pull requests the only path to main</a:t>
            </a:r>
          </a:p>
        </p:txBody>
      </p:sp>
      <p:sp>
        <p:nvSpPr>
          <p:cNvPr id="3" name="accent-4">
            <a:extLst>
              <a:ext uri="{FF2B5EF4-FFF2-40B4-BE49-F238E27FC236}">
                <a16:creationId xmlns:a16="http://schemas.microsoft.com/office/drawing/2014/main" id="{5A89B270-8163-45C8-9015-F0AACBB25D05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239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workflow-node-1">
            <a:extLst>
              <a:ext uri="{FF2B5EF4-FFF2-40B4-BE49-F238E27FC236}">
                <a16:creationId xmlns:a16="http://schemas.microsoft.com/office/drawing/2014/main" id="{1A345A81-0CAD-4FA3-AAD1-0A9DF4EE7C82}"/>
              </a:ext>
            </a:extLst>
          </p:cNvPr>
          <p:cNvSpPr>
            <a:spLocks noGrp="1"/>
          </p:cNvSpPr>
          <p:nvPr/>
        </p:nvSpPr>
        <p:spPr>
          <a:xfrm>
            <a:off x="704850" y="1905000"/>
            <a:ext cx="2095500" cy="904875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1430">
            <a:solidFill>
              <a:srgbClr val="CFDC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6" name="workflow-node-2">
            <a:extLst>
              <a:ext uri="{FF2B5EF4-FFF2-40B4-BE49-F238E27FC236}">
                <a16:creationId xmlns:a16="http://schemas.microsoft.com/office/drawing/2014/main" id="{65F6D9E4-28F9-4044-B6D9-861C612C4D04}"/>
              </a:ext>
            </a:extLst>
          </p:cNvPr>
          <p:cNvSpPr>
            <a:spLocks noGrp="1"/>
          </p:cNvSpPr>
          <p:nvPr/>
        </p:nvSpPr>
        <p:spPr>
          <a:xfrm>
            <a:off x="3390900" y="1905000"/>
            <a:ext cx="2095500" cy="904875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1430">
            <a:solidFill>
              <a:srgbClr val="CFDC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workflow-node-3">
            <a:extLst>
              <a:ext uri="{FF2B5EF4-FFF2-40B4-BE49-F238E27FC236}">
                <a16:creationId xmlns:a16="http://schemas.microsoft.com/office/drawing/2014/main" id="{1363192D-0A61-4BBC-B7C5-7D32D2B6D578}"/>
              </a:ext>
            </a:extLst>
          </p:cNvPr>
          <p:cNvSpPr>
            <a:spLocks noGrp="1"/>
          </p:cNvSpPr>
          <p:nvPr/>
        </p:nvSpPr>
        <p:spPr>
          <a:xfrm>
            <a:off x="6076950" y="1905000"/>
            <a:ext cx="2095500" cy="904875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1430">
            <a:solidFill>
              <a:srgbClr val="CFDC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8" name="workflow-node-4">
            <a:extLst>
              <a:ext uri="{FF2B5EF4-FFF2-40B4-BE49-F238E27FC236}">
                <a16:creationId xmlns:a16="http://schemas.microsoft.com/office/drawing/2014/main" id="{F3E743F1-44AD-4DEA-9771-B026311A013D}"/>
              </a:ext>
            </a:extLst>
          </p:cNvPr>
          <p:cNvSpPr>
            <a:spLocks noGrp="1"/>
          </p:cNvSpPr>
          <p:nvPr/>
        </p:nvSpPr>
        <p:spPr>
          <a:xfrm>
            <a:off x="8763000" y="1905000"/>
            <a:ext cx="2095500" cy="904875"/>
          </a:xfrm>
          <a:prstGeom prst="roundRect">
            <a:avLst>
              <a:gd name="adj" fmla="val 14737"/>
            </a:avLst>
          </a:prstGeom>
          <a:solidFill>
            <a:srgbClr val="071726"/>
          </a:solidFill>
          <a:ln w="11430">
            <a:solidFill>
              <a:srgbClr val="0717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45" name="Straight Arrow Connector 44"/>
          <p:cNvCxnSpPr>
            <a:stCxn id="5" idx="3"/>
            <a:endCxn id="6" idx="1"/>
          </p:cNvCxnSpPr>
          <p:nvPr/>
        </p:nvCxnSpPr>
        <p:spPr>
          <a:xfrm>
            <a:off x="2800350" y="2357438"/>
            <a:ext cx="590550" cy="0"/>
          </a:xfrm>
          <a:prstGeom prst="straightConnector1">
            <a:avLst/>
          </a:prstGeom>
          <a:ln w="28575">
            <a:solidFill>
              <a:srgbClr val="18A6A1"/>
            </a:solidFill>
            <a:prstDash val="solid"/>
            <a:tailEnd type="triangle" w="sm" len="sm"/>
          </a:ln>
        </p:spPr>
      </p:cxnSp>
      <p:cxnSp>
        <p:nvCxnSpPr>
          <p:cNvPr id="46" name="Straight Arrow Connector 45"/>
          <p:cNvCxnSpPr>
            <a:stCxn id="6" idx="3"/>
            <a:endCxn id="7" idx="1"/>
          </p:cNvCxnSpPr>
          <p:nvPr/>
        </p:nvCxnSpPr>
        <p:spPr>
          <a:xfrm>
            <a:off x="5486400" y="2357438"/>
            <a:ext cx="590550" cy="0"/>
          </a:xfrm>
          <a:prstGeom prst="straightConnector1">
            <a:avLst/>
          </a:prstGeom>
          <a:ln w="28575">
            <a:solidFill>
              <a:srgbClr val="18A6A1"/>
            </a:solidFill>
            <a:prstDash val="solid"/>
            <a:tailEnd type="triangle" w="sm" len="sm"/>
          </a:ln>
        </p:spPr>
      </p:cxnSp>
      <p:cxnSp>
        <p:nvCxnSpPr>
          <p:cNvPr id="47" name="Straight Arrow Connector 46"/>
          <p:cNvCxnSpPr>
            <a:stCxn id="7" idx="3"/>
            <a:endCxn id="8" idx="1"/>
          </p:cNvCxnSpPr>
          <p:nvPr/>
        </p:nvCxnSpPr>
        <p:spPr>
          <a:xfrm>
            <a:off x="8172450" y="2357438"/>
            <a:ext cx="590550" cy="0"/>
          </a:xfrm>
          <a:prstGeom prst="straightConnector1">
            <a:avLst/>
          </a:prstGeom>
          <a:ln w="28575">
            <a:solidFill>
              <a:srgbClr val="18A6A1"/>
            </a:solidFill>
            <a:prstDash val="solid"/>
            <a:tailEnd type="triangle" w="sm" len="sm"/>
          </a:ln>
        </p:spPr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E08D8CD-8A29-499D-A8E2-AF434F318BE3}"/>
              </a:ext>
            </a:extLst>
          </p:cNvPr>
          <p:cNvSpPr>
            <a:spLocks noGrp="1"/>
          </p:cNvSpPr>
          <p:nvPr/>
        </p:nvSpPr>
        <p:spPr>
          <a:xfrm>
            <a:off x="857250" y="2085975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FEATURE BRANCH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9C0DDA-892C-4B05-A1E7-ADAA63FA676C}"/>
              </a:ext>
            </a:extLst>
          </p:cNvPr>
          <p:cNvSpPr>
            <a:spLocks noGrp="1"/>
          </p:cNvSpPr>
          <p:nvPr/>
        </p:nvSpPr>
        <p:spPr>
          <a:xfrm>
            <a:off x="876300" y="2390775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63" b="0" i="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102637"/>
                </a:solidFill>
                <a:latin typeface="Aptos"/>
                <a:ea typeface="Aptos"/>
                <a:cs typeface="Aptos"/>
              </a:rPr>
              <a:t>Work stays isolated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D23999-5336-4905-90E8-2B63C72A1A87}"/>
              </a:ext>
            </a:extLst>
          </p:cNvPr>
          <p:cNvSpPr>
            <a:spLocks noGrp="1"/>
          </p:cNvSpPr>
          <p:nvPr/>
        </p:nvSpPr>
        <p:spPr>
          <a:xfrm>
            <a:off x="3543300" y="2085975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PULL REQUEST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27267C3-A88C-4569-ABD2-0D26C263C661}"/>
              </a:ext>
            </a:extLst>
          </p:cNvPr>
          <p:cNvSpPr>
            <a:spLocks noGrp="1"/>
          </p:cNvSpPr>
          <p:nvPr/>
        </p:nvSpPr>
        <p:spPr>
          <a:xfrm>
            <a:off x="3562350" y="2390775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63" b="0" i="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102637"/>
                </a:solidFill>
                <a:latin typeface="Aptos"/>
                <a:ea typeface="Aptos"/>
                <a:cs typeface="Aptos"/>
              </a:rPr>
              <a:t>Intent and diff are visible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723C9E-7DF7-4E49-A41E-7BB3F5667C6B}"/>
              </a:ext>
            </a:extLst>
          </p:cNvPr>
          <p:cNvSpPr>
            <a:spLocks noGrp="1"/>
          </p:cNvSpPr>
          <p:nvPr/>
        </p:nvSpPr>
        <p:spPr>
          <a:xfrm>
            <a:off x="6229350" y="2085975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REVIEW + CHECKS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44F458-AFA8-4ADA-90BA-B977D1E34EC1}"/>
              </a:ext>
            </a:extLst>
          </p:cNvPr>
          <p:cNvSpPr>
            <a:spLocks noGrp="1"/>
          </p:cNvSpPr>
          <p:nvPr/>
        </p:nvSpPr>
        <p:spPr>
          <a:xfrm>
            <a:off x="6248400" y="2390775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63" b="0" i="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102637"/>
                </a:solidFill>
                <a:latin typeface="Aptos"/>
                <a:ea typeface="Aptos"/>
                <a:cs typeface="Aptos"/>
              </a:rPr>
              <a:t>People and tools agree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3383861-1C84-4349-987B-1746A6D1A1EB}"/>
              </a:ext>
            </a:extLst>
          </p:cNvPr>
          <p:cNvSpPr>
            <a:spLocks noGrp="1"/>
          </p:cNvSpPr>
          <p:nvPr/>
        </p:nvSpPr>
        <p:spPr>
          <a:xfrm>
            <a:off x="8915400" y="2085975"/>
            <a:ext cx="1790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1050" b="1" i="0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2B84B"/>
                </a:solidFill>
                <a:latin typeface="Aptos"/>
                <a:ea typeface="Aptos"/>
                <a:cs typeface="Aptos"/>
              </a:rPr>
              <a:t>PROTECTED MAIN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B34277-252B-4BE1-A4A0-B1A0488EBFCA}"/>
              </a:ext>
            </a:extLst>
          </p:cNvPr>
          <p:cNvSpPr>
            <a:spLocks noGrp="1"/>
          </p:cNvSpPr>
          <p:nvPr/>
        </p:nvSpPr>
        <p:spPr>
          <a:xfrm>
            <a:off x="8934450" y="2390775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163" b="0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Merge creates evidence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F46B21-DA8A-4778-A920-2156049D23E5}"/>
              </a:ext>
            </a:extLst>
          </p:cNvPr>
          <p:cNvSpPr>
            <a:spLocks noGrp="1"/>
          </p:cNvSpPr>
          <p:nvPr/>
        </p:nvSpPr>
        <p:spPr>
          <a:xfrm>
            <a:off x="704850" y="3238500"/>
            <a:ext cx="542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ENFORCE AT THE BRANCH OR ORGANIZATION 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9CBB9B-2050-44F8-98D6-35D039097B82}"/>
              </a:ext>
            </a:extLst>
          </p:cNvPr>
          <p:cNvSpPr>
            <a:spLocks noGrp="1"/>
          </p:cNvSpPr>
          <p:nvPr/>
        </p:nvSpPr>
        <p:spPr>
          <a:xfrm>
            <a:off x="704850" y="3705225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4ED9C0-257E-4AD1-94CD-8682116025C3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4905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Require pull requests and approvals. </a:t>
            </a:r>
            <a:r>
              <a:rPr sz="1275">
                <a:solidFill>
                  <a:srgbClr val="102637"/>
                </a:solidFill>
                <a:latin typeface="Aptos"/>
                <a:ea typeface="Aptos"/>
                <a:cs typeface="Aptos"/>
              </a:rPr>
              <a:t>Use one or two independent reviewers based on risk.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780580-4A50-4A1F-9165-7C1CD05CAB34}"/>
              </a:ext>
            </a:extLst>
          </p:cNvPr>
          <p:cNvSpPr>
            <a:spLocks noGrp="1"/>
          </p:cNvSpPr>
          <p:nvPr/>
        </p:nvSpPr>
        <p:spPr>
          <a:xfrm>
            <a:off x="704850" y="4305300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95A01D-967F-431C-83FB-8FD6E9E72559}"/>
              </a:ext>
            </a:extLst>
          </p:cNvPr>
          <p:cNvSpPr>
            <a:spLocks noGrp="1"/>
          </p:cNvSpPr>
          <p:nvPr/>
        </p:nvSpPr>
        <p:spPr>
          <a:xfrm>
            <a:off x="895350" y="4238625"/>
            <a:ext cx="4905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Require CODEOWNERS for sensitive paths. </a:t>
            </a:r>
            <a:r>
              <a:rPr sz="1275">
                <a:solidFill>
                  <a:srgbClr val="102637"/>
                </a:solidFill>
                <a:latin typeface="Aptos"/>
                <a:ea typeface="Aptos"/>
                <a:cs typeface="Aptos"/>
              </a:rPr>
              <a:t>Security, workflow, infrastructure, and release files need the right expert.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538284-B896-4443-BCA9-B9AD32BAA70B}"/>
              </a:ext>
            </a:extLst>
          </p:cNvPr>
          <p:cNvSpPr>
            <a:spLocks noGrp="1"/>
          </p:cNvSpPr>
          <p:nvPr/>
        </p:nvSpPr>
        <p:spPr>
          <a:xfrm>
            <a:off x="704850" y="4981575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DBC380-4401-4F82-8870-DDE9B63D0717}"/>
              </a:ext>
            </a:extLst>
          </p:cNvPr>
          <p:cNvSpPr>
            <a:spLocks noGrp="1"/>
          </p:cNvSpPr>
          <p:nvPr/>
        </p:nvSpPr>
        <p:spPr>
          <a:xfrm>
            <a:off x="895350" y="4914900"/>
            <a:ext cx="49053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Re-review after important changes. </a:t>
            </a:r>
            <a:r>
              <a:rPr sz="1275">
                <a:solidFill>
                  <a:srgbClr val="102637"/>
                </a:solidFill>
                <a:latin typeface="Aptos"/>
                <a:ea typeface="Aptos"/>
                <a:cs typeface="Aptos"/>
              </a:rPr>
              <a:t>Dismiss stale approvals and resolve every review conversation.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40C47D-294E-4AA6-A691-340C9BDC2CBF}"/>
              </a:ext>
            </a:extLst>
          </p:cNvPr>
          <p:cNvSpPr>
            <a:spLocks noGrp="1"/>
          </p:cNvSpPr>
          <p:nvPr/>
        </p:nvSpPr>
        <p:spPr>
          <a:xfrm>
            <a:off x="6286500" y="3705225"/>
            <a:ext cx="76200" cy="76200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3D8613-4BA5-41F2-A144-52C3CA030195}"/>
              </a:ext>
            </a:extLst>
          </p:cNvPr>
          <p:cNvSpPr>
            <a:spLocks noGrp="1"/>
          </p:cNvSpPr>
          <p:nvPr/>
        </p:nvSpPr>
        <p:spPr>
          <a:xfrm>
            <a:off x="6477000" y="3638550"/>
            <a:ext cx="4810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Require status checks before merging. </a:t>
            </a:r>
            <a:r>
              <a:rPr sz="1275">
                <a:solidFill>
                  <a:srgbClr val="102637"/>
                </a:solidFill>
                <a:latin typeface="Aptos"/>
                <a:ea typeface="Aptos"/>
                <a:cs typeface="Aptos"/>
              </a:rPr>
              <a:t>Builds, tests, security scans, and policy checks must pass.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944581A-08A0-4407-9006-E9B5B4F70B03}"/>
              </a:ext>
            </a:extLst>
          </p:cNvPr>
          <p:cNvSpPr>
            <a:spLocks noGrp="1"/>
          </p:cNvSpPr>
          <p:nvPr/>
        </p:nvSpPr>
        <p:spPr>
          <a:xfrm>
            <a:off x="6286500" y="4305300"/>
            <a:ext cx="76200" cy="76200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06C52D-FBAF-4196-BBD3-A0C1CA8BEA44}"/>
              </a:ext>
            </a:extLst>
          </p:cNvPr>
          <p:cNvSpPr>
            <a:spLocks noGrp="1"/>
          </p:cNvSpPr>
          <p:nvPr/>
        </p:nvSpPr>
        <p:spPr>
          <a:xfrm>
            <a:off x="6477000" y="4238625"/>
            <a:ext cx="481012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909"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Protect history and release identity. </a:t>
            </a:r>
            <a:r>
              <a:rPr sz="1275">
                <a:solidFill>
                  <a:srgbClr val="102637"/>
                </a:solidFill>
                <a:latin typeface="Aptos"/>
                <a:ea typeface="Aptos"/>
                <a:cs typeface="Aptos"/>
              </a:rPr>
              <a:t>Block force pushes/deletion; require signed commits or tags where appropriate.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84623F-0934-4510-82AB-784B47DEFDD4}"/>
              </a:ext>
            </a:extLst>
          </p:cNvPr>
          <p:cNvSpPr>
            <a:spLocks noGrp="1"/>
          </p:cNvSpPr>
          <p:nvPr/>
        </p:nvSpPr>
        <p:spPr>
          <a:xfrm>
            <a:off x="6286500" y="4981575"/>
            <a:ext cx="76200" cy="76200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42E2609-A552-4652-B584-9BE20149AF1F}"/>
              </a:ext>
            </a:extLst>
          </p:cNvPr>
          <p:cNvSpPr>
            <a:spLocks noGrp="1"/>
          </p:cNvSpPr>
          <p:nvPr/>
        </p:nvSpPr>
        <p:spPr>
          <a:xfrm>
            <a:off x="6477000" y="4914900"/>
            <a:ext cx="4810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Control bypass permissions. </a:t>
            </a:r>
            <a:r>
              <a:rPr sz="1275">
                <a:solidFill>
                  <a:srgbClr val="102637"/>
                </a:solidFill>
                <a:latin typeface="Aptos"/>
                <a:ea typeface="Aptos"/>
                <a:cs typeface="Aptos"/>
              </a:rPr>
              <a:t>Apply protections to administrators and document emergency exceptions.</a:t>
            </a:r>
          </a:p>
        </p:txBody>
      </p:sp>
      <p:sp>
        <p:nvSpPr>
          <p:cNvPr id="34" name="footer-rule-4">
            <a:extLst>
              <a:ext uri="{FF2B5EF4-FFF2-40B4-BE49-F238E27FC236}">
                <a16:creationId xmlns:a16="http://schemas.microsoft.com/office/drawing/2014/main" id="{D9EAB36B-20C0-46E2-901A-498FB92465BE}"/>
              </a:ext>
            </a:extLst>
          </p:cNvPr>
          <p:cNvSpPr>
            <a:spLocks noGrp="1"/>
          </p:cNvSpPr>
          <p:nvPr/>
        </p:nvSpPr>
        <p:spPr>
          <a:xfrm>
            <a:off x="609600" y="6638925"/>
            <a:ext cx="10972800" cy="9525"/>
          </a:xfrm>
          <a:prstGeom prst="rect">
            <a:avLst/>
          </a:prstGeom>
          <a:solidFill>
            <a:srgbClr val="CFD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page-footer-4">
            <a:extLst>
              <a:ext uri="{FF2B5EF4-FFF2-40B4-BE49-F238E27FC236}">
                <a16:creationId xmlns:a16="http://schemas.microsoft.com/office/drawing/2014/main" id="{B67ED9C0-5D4B-41AB-8BC0-ECC90B1C25A2}"/>
              </a:ext>
            </a:extLst>
          </p:cNvPr>
          <p:cNvSpPr>
            <a:spLocks noGrp="1"/>
          </p:cNvSpPr>
          <p:nvPr/>
        </p:nvSpPr>
        <p:spPr>
          <a:xfrm>
            <a:off x="11239500" y="6677025"/>
            <a:ext cx="342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4000"/>
              </a:lnSpc>
              <a:buNone/>
              <a:defRPr sz="750" b="1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41440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ection-5">
            <a:extLst>
              <a:ext uri="{FF2B5EF4-FFF2-40B4-BE49-F238E27FC236}">
                <a16:creationId xmlns:a16="http://schemas.microsoft.com/office/drawing/2014/main" id="{173CC7E5-477B-4500-835C-BAAB25FD3AF6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18A6A1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18A6A1"/>
                </a:solidFill>
                <a:latin typeface="Aptos Display"/>
                <a:ea typeface="Aptos Display"/>
                <a:cs typeface="Aptos Display"/>
              </a:rPr>
              <a:t>CONTROL 3 — AUTOMATED ASSURANCE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8FD30418-CB9B-4FBB-B7DD-10FD5FB9B97C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Turn security checks into merge conditions</a:t>
            </a:r>
          </a:p>
        </p:txBody>
      </p:sp>
      <p:sp>
        <p:nvSpPr>
          <p:cNvPr id="3" name="accent-5">
            <a:extLst>
              <a:ext uri="{FF2B5EF4-FFF2-40B4-BE49-F238E27FC236}">
                <a16:creationId xmlns:a16="http://schemas.microsoft.com/office/drawing/2014/main" id="{FAD81F85-F3ED-4F2D-B0B3-D2E86C7C5B82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239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BE2891-3590-465C-86ED-1544DD63ABDB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18A6A1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8A6A1"/>
                </a:solidFill>
                <a:latin typeface="Aptos"/>
                <a:ea typeface="Aptos"/>
                <a:cs typeface="Aptos"/>
              </a:rPr>
              <a:t>SCAN THE CHANGE</a:t>
            </a:r>
          </a:p>
        </p:txBody>
      </p:sp>
      <p:sp>
        <p:nvSpPr>
          <p:cNvPr id="6" name="scan-band-A">
            <a:extLst>
              <a:ext uri="{FF2B5EF4-FFF2-40B4-BE49-F238E27FC236}">
                <a16:creationId xmlns:a16="http://schemas.microsoft.com/office/drawing/2014/main" id="{DF70B40A-601C-4592-BF79-66EB56D2D059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4953000" cy="876300"/>
          </a:xfrm>
          <a:prstGeom prst="roundRect">
            <a:avLst>
              <a:gd name="adj" fmla="val 13043"/>
            </a:avLst>
          </a:prstGeom>
          <a:solidFill>
            <a:srgbClr val="11344C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3EE8CF-9DA0-45D5-BF79-37C195B5B87A}"/>
              </a:ext>
            </a:extLst>
          </p:cNvPr>
          <p:cNvSpPr>
            <a:spLocks noGrp="1"/>
          </p:cNvSpPr>
          <p:nvPr/>
        </p:nvSpPr>
        <p:spPr>
          <a:xfrm>
            <a:off x="876300" y="233362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350" b="1" i="0">
                <a:solidFill>
                  <a:srgbClr val="F2B84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2B84B"/>
                </a:solidFill>
                <a:latin typeface="Aptos Display"/>
                <a:ea typeface="Aptos Display"/>
                <a:cs typeface="Aptos Display"/>
              </a:rPr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9B137-2B8E-425D-A773-27CB147CFC74}"/>
              </a:ext>
            </a:extLst>
          </p:cNvPr>
          <p:cNvSpPr>
            <a:spLocks noGrp="1"/>
          </p:cNvSpPr>
          <p:nvPr/>
        </p:nvSpPr>
        <p:spPr>
          <a:xfrm>
            <a:off x="1390650" y="22288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7BF78A-0EC0-4ECA-A858-B920C7A8DA06}"/>
              </a:ext>
            </a:extLst>
          </p:cNvPr>
          <p:cNvSpPr>
            <a:spLocks noGrp="1"/>
          </p:cNvSpPr>
          <p:nvPr/>
        </p:nvSpPr>
        <p:spPr>
          <a:xfrm>
            <a:off x="1390650" y="2505075"/>
            <a:ext cx="3962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63" b="0" i="0">
                <a:solidFill>
                  <a:srgbClr val="C6D7DF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C6D7DF"/>
                </a:solidFill>
                <a:latin typeface="Aptos"/>
                <a:ea typeface="Aptos"/>
                <a:cs typeface="Aptos"/>
              </a:rPr>
              <a:t>SAST and CodeQL look for unsafe data flow, injection paths, and coding errors.</a:t>
            </a:r>
          </a:p>
        </p:txBody>
      </p:sp>
      <p:sp>
        <p:nvSpPr>
          <p:cNvPr id="10" name="scan-band-B">
            <a:extLst>
              <a:ext uri="{FF2B5EF4-FFF2-40B4-BE49-F238E27FC236}">
                <a16:creationId xmlns:a16="http://schemas.microsoft.com/office/drawing/2014/main" id="{E5E36910-55DD-4DF4-A9F3-21A8A4982C51}"/>
              </a:ext>
            </a:extLst>
          </p:cNvPr>
          <p:cNvSpPr>
            <a:spLocks noGrp="1"/>
          </p:cNvSpPr>
          <p:nvPr/>
        </p:nvSpPr>
        <p:spPr>
          <a:xfrm>
            <a:off x="666750" y="3171825"/>
            <a:ext cx="4953000" cy="876300"/>
          </a:xfrm>
          <a:prstGeom prst="roundRect">
            <a:avLst>
              <a:gd name="adj" fmla="val 13043"/>
            </a:avLst>
          </a:prstGeom>
          <a:solidFill>
            <a:srgbClr val="123E4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79578B-E708-4A9F-AC82-E0FADF3199C1}"/>
              </a:ext>
            </a:extLst>
          </p:cNvPr>
          <p:cNvSpPr>
            <a:spLocks noGrp="1"/>
          </p:cNvSpPr>
          <p:nvPr/>
        </p:nvSpPr>
        <p:spPr>
          <a:xfrm>
            <a:off x="876300" y="3409950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350" b="1" i="0">
                <a:solidFill>
                  <a:srgbClr val="F2B84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2B84B"/>
                </a:solidFill>
                <a:latin typeface="Aptos Display"/>
                <a:ea typeface="Aptos Display"/>
                <a:cs typeface="Aptos Display"/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5587EE-6438-4426-AA00-5F3DCC02416F}"/>
              </a:ext>
            </a:extLst>
          </p:cNvPr>
          <p:cNvSpPr>
            <a:spLocks noGrp="1"/>
          </p:cNvSpPr>
          <p:nvPr/>
        </p:nvSpPr>
        <p:spPr>
          <a:xfrm>
            <a:off x="1390650" y="3305175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Dependencies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397EE8-CBB7-4B5E-AC31-9590E5E6C423}"/>
              </a:ext>
            </a:extLst>
          </p:cNvPr>
          <p:cNvSpPr>
            <a:spLocks noGrp="1"/>
          </p:cNvSpPr>
          <p:nvPr/>
        </p:nvSpPr>
        <p:spPr>
          <a:xfrm>
            <a:off x="1390650" y="3581400"/>
            <a:ext cx="3962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63" b="0" i="0">
                <a:solidFill>
                  <a:srgbClr val="C6D7DF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C6D7DF"/>
                </a:solidFill>
                <a:latin typeface="Aptos"/>
                <a:ea typeface="Aptos"/>
                <a:cs typeface="Aptos"/>
              </a:rPr>
              <a:t>Dependency review and Dependabot identify vulnerable or risky packages before release.</a:t>
            </a:r>
          </a:p>
        </p:txBody>
      </p:sp>
      <p:sp>
        <p:nvSpPr>
          <p:cNvPr id="14" name="scan-band-C">
            <a:extLst>
              <a:ext uri="{FF2B5EF4-FFF2-40B4-BE49-F238E27FC236}">
                <a16:creationId xmlns:a16="http://schemas.microsoft.com/office/drawing/2014/main" id="{1777EC98-0646-4C00-9593-1809BA6469AE}"/>
              </a:ext>
            </a:extLst>
          </p:cNvPr>
          <p:cNvSpPr>
            <a:spLocks noGrp="1"/>
          </p:cNvSpPr>
          <p:nvPr/>
        </p:nvSpPr>
        <p:spPr>
          <a:xfrm>
            <a:off x="666750" y="4248150"/>
            <a:ext cx="4953000" cy="876300"/>
          </a:xfrm>
          <a:prstGeom prst="roundRect">
            <a:avLst>
              <a:gd name="adj" fmla="val 13043"/>
            </a:avLst>
          </a:prstGeom>
          <a:solidFill>
            <a:srgbClr val="16495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BE5483-277F-4274-9435-AA691BB3632D}"/>
              </a:ext>
            </a:extLst>
          </p:cNvPr>
          <p:cNvSpPr>
            <a:spLocks noGrp="1"/>
          </p:cNvSpPr>
          <p:nvPr/>
        </p:nvSpPr>
        <p:spPr>
          <a:xfrm>
            <a:off x="876300" y="4486275"/>
            <a:ext cx="342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1350" b="1" i="0">
                <a:solidFill>
                  <a:srgbClr val="F2B84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F2B84B"/>
                </a:solidFill>
                <a:latin typeface="Aptos Display"/>
                <a:ea typeface="Aptos Display"/>
                <a:cs typeface="Aptos Display"/>
              </a:rPr>
              <a:t>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3BC98C-145A-4CF7-909F-71DE0754C277}"/>
              </a:ext>
            </a:extLst>
          </p:cNvPr>
          <p:cNvSpPr>
            <a:spLocks noGrp="1"/>
          </p:cNvSpPr>
          <p:nvPr/>
        </p:nvSpPr>
        <p:spPr>
          <a:xfrm>
            <a:off x="1390650" y="43815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Secrets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DB8B2D-E803-479C-9D22-7F896618790B}"/>
              </a:ext>
            </a:extLst>
          </p:cNvPr>
          <p:cNvSpPr>
            <a:spLocks noGrp="1"/>
          </p:cNvSpPr>
          <p:nvPr/>
        </p:nvSpPr>
        <p:spPr>
          <a:xfrm>
            <a:off x="1390650" y="4657725"/>
            <a:ext cx="39624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63" b="0" i="0">
                <a:solidFill>
                  <a:srgbClr val="C6D7DF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C6D7DF"/>
                </a:solidFill>
                <a:latin typeface="Aptos"/>
                <a:ea typeface="Aptos"/>
                <a:cs typeface="Aptos"/>
              </a:rPr>
              <a:t>Secret scanning and push protection detect credentials before they enter Git history.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4D4728-E058-4DB1-855C-5BE11F5BC369}"/>
              </a:ext>
            </a:extLst>
          </p:cNvPr>
          <p:cNvSpPr>
            <a:spLocks noGrp="1"/>
          </p:cNvSpPr>
          <p:nvPr/>
        </p:nvSpPr>
        <p:spPr>
          <a:xfrm>
            <a:off x="6381750" y="16954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2B84B"/>
                </a:solidFill>
                <a:latin typeface="Aptos"/>
                <a:ea typeface="Aptos"/>
                <a:cs typeface="Aptos"/>
              </a:rPr>
              <a:t>GATE THE MERGE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4A1A2A-1A13-45B7-9684-9C1C8F2378AA}"/>
              </a:ext>
            </a:extLst>
          </p:cNvPr>
          <p:cNvSpPr>
            <a:spLocks noGrp="1"/>
          </p:cNvSpPr>
          <p:nvPr/>
        </p:nvSpPr>
        <p:spPr>
          <a:xfrm>
            <a:off x="6381750" y="2219325"/>
            <a:ext cx="76200" cy="76200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76E413-C4E8-4B94-A3A5-6810403932D6}"/>
              </a:ext>
            </a:extLst>
          </p:cNvPr>
          <p:cNvSpPr>
            <a:spLocks noGrp="1"/>
          </p:cNvSpPr>
          <p:nvPr/>
        </p:nvSpPr>
        <p:spPr>
          <a:xfrm>
            <a:off x="6572250" y="2152650"/>
            <a:ext cx="4572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 on every pull request. </a:t>
            </a: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Also scan the default branch and on a schedule.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3B7308-C440-4696-9496-D35B15222C89}"/>
              </a:ext>
            </a:extLst>
          </p:cNvPr>
          <p:cNvSpPr>
            <a:spLocks noGrp="1"/>
          </p:cNvSpPr>
          <p:nvPr/>
        </p:nvSpPr>
        <p:spPr>
          <a:xfrm>
            <a:off x="6381750" y="2981325"/>
            <a:ext cx="76200" cy="76200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C6CB0A3-EDFF-4E13-85EF-B925F34A2DD5}"/>
              </a:ext>
            </a:extLst>
          </p:cNvPr>
          <p:cNvSpPr>
            <a:spLocks noGrp="1"/>
          </p:cNvSpPr>
          <p:nvPr/>
        </p:nvSpPr>
        <p:spPr>
          <a:xfrm>
            <a:off x="6572250" y="2914650"/>
            <a:ext cx="457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Define severity policy. </a:t>
            </a: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Block critical or high-confidence findings instead of treating scans as optional reports.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00B331-66BE-4279-B71E-D1A4EFF2395B}"/>
              </a:ext>
            </a:extLst>
          </p:cNvPr>
          <p:cNvSpPr>
            <a:spLocks noGrp="1"/>
          </p:cNvSpPr>
          <p:nvPr/>
        </p:nvSpPr>
        <p:spPr>
          <a:xfrm>
            <a:off x="6381750" y="3800475"/>
            <a:ext cx="76200" cy="76200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839EB6-7843-4689-A740-25626206D923}"/>
              </a:ext>
            </a:extLst>
          </p:cNvPr>
          <p:cNvSpPr>
            <a:spLocks noGrp="1"/>
          </p:cNvSpPr>
          <p:nvPr/>
        </p:nvSpPr>
        <p:spPr>
          <a:xfrm>
            <a:off x="6572250" y="3733800"/>
            <a:ext cx="457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Triage with a human owner. </a:t>
            </a: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 findings, record remediation, and give every exception an expiration date.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A24B40-4907-4C84-A7F2-CA0472BC60E5}"/>
              </a:ext>
            </a:extLst>
          </p:cNvPr>
          <p:cNvSpPr>
            <a:spLocks noGrp="1"/>
          </p:cNvSpPr>
          <p:nvPr/>
        </p:nvSpPr>
        <p:spPr>
          <a:xfrm>
            <a:off x="6381750" y="4619625"/>
            <a:ext cx="76200" cy="76200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E251FD-B0ED-4FD1-B556-921DB723689E}"/>
              </a:ext>
            </a:extLst>
          </p:cNvPr>
          <p:cNvSpPr>
            <a:spLocks noGrp="1"/>
          </p:cNvSpPr>
          <p:nvPr/>
        </p:nvSpPr>
        <p:spPr>
          <a:xfrm>
            <a:off x="6572250" y="4552950"/>
            <a:ext cx="457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35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Re-run after meaningful changes. </a:t>
            </a:r>
            <a:r>
              <a:rPr sz="1350">
                <a:solidFill>
                  <a:srgbClr val="FFFFFF"/>
                </a:solidFill>
                <a:latin typeface="Aptos"/>
                <a:ea typeface="Aptos"/>
                <a:cs typeface="Aptos"/>
              </a:rPr>
              <a:t>Dependency, build, and workflow updates can change the application’s risk.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DDF3F93-5994-4657-9ED3-B19C39EC9184}"/>
              </a:ext>
            </a:extLst>
          </p:cNvPr>
          <p:cNvSpPr>
            <a:spLocks noGrp="1"/>
          </p:cNvSpPr>
          <p:nvPr/>
        </p:nvSpPr>
        <p:spPr>
          <a:xfrm>
            <a:off x="6381750" y="5391150"/>
            <a:ext cx="4762500" cy="609600"/>
          </a:xfrm>
          <a:prstGeom prst="roundRect">
            <a:avLst>
              <a:gd name="adj" fmla="val 15625"/>
            </a:avLst>
          </a:prstGeom>
          <a:solidFill>
            <a:srgbClr val="18A6A1">
              <a:alpha val="18000"/>
            </a:srgbClr>
          </a:solidFill>
          <a:ln w="9525">
            <a:solidFill>
              <a:srgbClr val="18A6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C0E7B1-204E-48CE-968E-0FA254364E6C}"/>
              </a:ext>
            </a:extLst>
          </p:cNvPr>
          <p:cNvSpPr>
            <a:spLocks noGrp="1"/>
          </p:cNvSpPr>
          <p:nvPr/>
        </p:nvSpPr>
        <p:spPr>
          <a:xfrm>
            <a:off x="6610350" y="5524500"/>
            <a:ext cx="4305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9886" lnSpcReduction="20000"/>
          </a:bodyPr>
          <a:lstStyle/>
          <a:p>
            <a:pPr algn="ctr">
              <a:lnSpc>
                <a:spcPct val="104000"/>
              </a:lnSpc>
              <a:buNone/>
              <a:defRPr sz="131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1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Automation supplies consistency; reviewers supply context and accountability.</a:t>
            </a:r>
          </a:p>
        </p:txBody>
      </p:sp>
      <p:sp>
        <p:nvSpPr>
          <p:cNvPr id="30" name="footer-rule-5">
            <a:extLst>
              <a:ext uri="{FF2B5EF4-FFF2-40B4-BE49-F238E27FC236}">
                <a16:creationId xmlns:a16="http://schemas.microsoft.com/office/drawing/2014/main" id="{3863415A-5277-4347-8573-C449883F4662}"/>
              </a:ext>
            </a:extLst>
          </p:cNvPr>
          <p:cNvSpPr>
            <a:spLocks noGrp="1"/>
          </p:cNvSpPr>
          <p:nvPr/>
        </p:nvSpPr>
        <p:spPr>
          <a:xfrm>
            <a:off x="609600" y="6638925"/>
            <a:ext cx="10972800" cy="9525"/>
          </a:xfrm>
          <a:prstGeom prst="rect">
            <a:avLst/>
          </a:prstGeom>
          <a:solidFill>
            <a:srgbClr val="34506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page-footer-5">
            <a:extLst>
              <a:ext uri="{FF2B5EF4-FFF2-40B4-BE49-F238E27FC236}">
                <a16:creationId xmlns:a16="http://schemas.microsoft.com/office/drawing/2014/main" id="{7D3D677A-6CA8-49AD-872A-94E1F656E7C5}"/>
              </a:ext>
            </a:extLst>
          </p:cNvPr>
          <p:cNvSpPr>
            <a:spLocks noGrp="1"/>
          </p:cNvSpPr>
          <p:nvPr/>
        </p:nvSpPr>
        <p:spPr>
          <a:xfrm>
            <a:off x="11239500" y="6677025"/>
            <a:ext cx="342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4000"/>
              </a:lnSpc>
              <a:buNone/>
              <a:defRPr sz="750" b="1" i="0">
                <a:solidFill>
                  <a:srgbClr val="9DB3C1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9DB3C1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80550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ection-6">
            <a:extLst>
              <a:ext uri="{FF2B5EF4-FFF2-40B4-BE49-F238E27FC236}">
                <a16:creationId xmlns:a16="http://schemas.microsoft.com/office/drawing/2014/main" id="{A28ECC9E-F775-4C64-9F5E-F38C3B9707A2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rPr>
              <a:t>CONTROL 4 — PIPELINE SECURITY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865656FC-1913-41B0-BFFC-51E654559555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rPr>
              <a:t>Treat workflow files like production code</a:t>
            </a:r>
          </a:p>
        </p:txBody>
      </p:sp>
      <p:sp>
        <p:nvSpPr>
          <p:cNvPr id="3" name="accent-6">
            <a:extLst>
              <a:ext uri="{FF2B5EF4-FFF2-40B4-BE49-F238E27FC236}">
                <a16:creationId xmlns:a16="http://schemas.microsoft.com/office/drawing/2014/main" id="{CF66F716-114F-4022-B2EE-BE8AA7D90B0E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239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F72DCA-1632-4819-A838-F99E4D374476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A MINIMUM-PERMISSION WORKFLOW</a:t>
            </a:r>
          </a:p>
        </p:txBody>
      </p:sp>
      <p:sp>
        <p:nvSpPr>
          <p:cNvPr id="6" name="workflow-code-frame">
            <a:extLst>
              <a:ext uri="{FF2B5EF4-FFF2-40B4-BE49-F238E27FC236}">
                <a16:creationId xmlns:a16="http://schemas.microsoft.com/office/drawing/2014/main" id="{7393904B-253E-4864-93B0-5EEF8C58C5BA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4524375" cy="3133725"/>
          </a:xfrm>
          <a:prstGeom prst="roundRect">
            <a:avLst>
              <a:gd name="adj" fmla="val 4255"/>
            </a:avLst>
          </a:prstGeom>
          <a:solidFill>
            <a:srgbClr val="071726"/>
          </a:solidFill>
          <a:ln w="0">
            <a:noFill/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EE5960-DFBC-4F24-867D-B839CD7BDF18}"/>
              </a:ext>
            </a:extLst>
          </p:cNvPr>
          <p:cNvSpPr>
            <a:spLocks noGrp="1"/>
          </p:cNvSpPr>
          <p:nvPr/>
        </p:nvSpPr>
        <p:spPr>
          <a:xfrm>
            <a:off x="895350" y="2276475"/>
            <a:ext cx="95250" cy="95250"/>
          </a:xfrm>
          <a:prstGeom prst="ellipse">
            <a:avLst/>
          </a:prstGeom>
          <a:solidFill>
            <a:srgbClr val="D95B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612419C-000A-49B9-BBA9-7D88A78447BF}"/>
              </a:ext>
            </a:extLst>
          </p:cNvPr>
          <p:cNvSpPr>
            <a:spLocks noGrp="1"/>
          </p:cNvSpPr>
          <p:nvPr/>
        </p:nvSpPr>
        <p:spPr>
          <a:xfrm>
            <a:off x="1085850" y="2276475"/>
            <a:ext cx="95250" cy="9525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C739F5B-2301-44DB-8D27-E91C9044F308}"/>
              </a:ext>
            </a:extLst>
          </p:cNvPr>
          <p:cNvSpPr>
            <a:spLocks noGrp="1"/>
          </p:cNvSpPr>
          <p:nvPr/>
        </p:nvSpPr>
        <p:spPr>
          <a:xfrm>
            <a:off x="1276350" y="2276475"/>
            <a:ext cx="95250" cy="95250"/>
          </a:xfrm>
          <a:prstGeom prst="ellipse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workflow-code">
            <a:extLst>
              <a:ext uri="{FF2B5EF4-FFF2-40B4-BE49-F238E27FC236}">
                <a16:creationId xmlns:a16="http://schemas.microsoft.com/office/drawing/2014/main" id="{3593D354-83FF-4516-AAC2-5E625F5F0D28}"/>
              </a:ext>
            </a:extLst>
          </p:cNvPr>
          <p:cNvSpPr>
            <a:spLocks noGrp="1"/>
          </p:cNvSpPr>
          <p:nvPr/>
        </p:nvSpPr>
        <p:spPr>
          <a:xfrm>
            <a:off x="933450" y="2619375"/>
            <a:ext cx="3905250" cy="2247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38" b="0" i="0">
                <a:solidFill>
                  <a:srgbClr val="DCE8ED"/>
                </a:solidFill>
                <a:latin typeface="Courier New"/>
                <a:ea typeface="Courier New"/>
                <a:cs typeface="Courier New"/>
              </a:defRPr>
            </a:pPr>
            <a:r>
              <a:rPr sz="1238" b="0" i="0" dirty="0">
                <a:solidFill>
                  <a:srgbClr val="DCE8ED"/>
                </a:solidFill>
                <a:latin typeface="Courier New"/>
                <a:ea typeface="Courier New"/>
                <a:cs typeface="Courier New"/>
              </a:rPr>
              <a:t>permissions:</a:t>
            </a:r>
          </a:p>
          <a:p>
            <a:pPr algn="l">
              <a:lnSpc>
                <a:spcPct val="100000"/>
              </a:lnSpc>
              <a:buNone/>
              <a:defRPr sz="1238" b="0" i="0">
                <a:solidFill>
                  <a:srgbClr val="DCE8ED"/>
                </a:solidFill>
                <a:latin typeface="Courier New"/>
                <a:ea typeface="Courier New"/>
                <a:cs typeface="Courier New"/>
              </a:defRPr>
            </a:pPr>
            <a:r>
              <a:rPr sz="1238" b="0" i="0" dirty="0">
                <a:solidFill>
                  <a:srgbClr val="DCE8ED"/>
                </a:solidFill>
                <a:latin typeface="Courier New"/>
                <a:ea typeface="Courier New"/>
                <a:cs typeface="Courier New"/>
              </a:rPr>
              <a:t>  contents: read</a:t>
            </a:r>
          </a:p>
          <a:p>
            <a:pPr algn="l">
              <a:lnSpc>
                <a:spcPct val="100000"/>
              </a:lnSpc>
              <a:buNone/>
              <a:defRPr sz="1238" b="0" i="0">
                <a:solidFill>
                  <a:srgbClr val="DCE8ED"/>
                </a:solidFill>
                <a:latin typeface="Courier New"/>
                <a:ea typeface="Courier New"/>
                <a:cs typeface="Courier New"/>
              </a:defRPr>
            </a:pPr>
            <a:r>
              <a:rPr sz="1238" b="0" i="0" dirty="0">
                <a:solidFill>
                  <a:srgbClr val="DCE8ED"/>
                </a:solidFill>
                <a:latin typeface="Courier New"/>
                <a:ea typeface="Courier New"/>
                <a:cs typeface="Courier New"/>
              </a:rPr>
              <a:t>  id-token: write   # only when OIDC is used</a:t>
            </a:r>
          </a:p>
          <a:p>
            <a:endParaRPr sz="1238" b="0" i="0" dirty="0">
              <a:solidFill>
                <a:srgbClr val="DCE8ED"/>
              </a:solidFill>
              <a:latin typeface="Courier New"/>
              <a:ea typeface="Courier New"/>
              <a:cs typeface="Courier New"/>
            </a:endParaRPr>
          </a:p>
          <a:p>
            <a:pPr algn="l">
              <a:lnSpc>
                <a:spcPct val="100000"/>
              </a:lnSpc>
              <a:buNone/>
              <a:defRPr sz="1238" b="0" i="0">
                <a:solidFill>
                  <a:srgbClr val="DCE8ED"/>
                </a:solidFill>
                <a:latin typeface="Courier New"/>
                <a:ea typeface="Courier New"/>
                <a:cs typeface="Courier New"/>
              </a:defRPr>
            </a:pPr>
            <a:r>
              <a:rPr sz="1238" b="0" i="0" dirty="0">
                <a:solidFill>
                  <a:srgbClr val="DCE8ED"/>
                </a:solidFill>
                <a:latin typeface="Courier New"/>
                <a:ea typeface="Courier New"/>
                <a:cs typeface="Courier New"/>
              </a:rPr>
              <a:t>jobs:</a:t>
            </a:r>
          </a:p>
          <a:p>
            <a:pPr algn="l">
              <a:lnSpc>
                <a:spcPct val="100000"/>
              </a:lnSpc>
              <a:buNone/>
              <a:defRPr sz="1238" b="0" i="0">
                <a:solidFill>
                  <a:srgbClr val="DCE8ED"/>
                </a:solidFill>
                <a:latin typeface="Courier New"/>
                <a:ea typeface="Courier New"/>
                <a:cs typeface="Courier New"/>
              </a:defRPr>
            </a:pPr>
            <a:r>
              <a:rPr sz="1238" b="0" i="0" dirty="0">
                <a:solidFill>
                  <a:srgbClr val="DCE8ED"/>
                </a:solidFill>
                <a:latin typeface="Courier New"/>
                <a:ea typeface="Courier New"/>
                <a:cs typeface="Courier New"/>
              </a:rPr>
              <a:t>  deploy:</a:t>
            </a:r>
          </a:p>
          <a:p>
            <a:pPr algn="l">
              <a:lnSpc>
                <a:spcPct val="100000"/>
              </a:lnSpc>
              <a:buNone/>
              <a:defRPr sz="1238" b="0" i="0">
                <a:solidFill>
                  <a:srgbClr val="DCE8ED"/>
                </a:solidFill>
                <a:latin typeface="Courier New"/>
                <a:ea typeface="Courier New"/>
                <a:cs typeface="Courier New"/>
              </a:defRPr>
            </a:pPr>
            <a:r>
              <a:rPr sz="1238" b="0" i="0" dirty="0">
                <a:solidFill>
                  <a:srgbClr val="DCE8ED"/>
                </a:solidFill>
                <a:latin typeface="Courier New"/>
                <a:ea typeface="Courier New"/>
                <a:cs typeface="Courier New"/>
              </a:rPr>
              <a:t>    environment: production</a:t>
            </a:r>
          </a:p>
          <a:p>
            <a:pPr algn="l">
              <a:lnSpc>
                <a:spcPct val="100000"/>
              </a:lnSpc>
              <a:buNone/>
              <a:defRPr sz="1238" b="0" i="0">
                <a:solidFill>
                  <a:srgbClr val="DCE8ED"/>
                </a:solidFill>
                <a:latin typeface="Courier New"/>
                <a:ea typeface="Courier New"/>
                <a:cs typeface="Courier New"/>
              </a:defRPr>
            </a:pPr>
            <a:r>
              <a:rPr sz="1238" b="0" i="0" dirty="0">
                <a:solidFill>
                  <a:srgbClr val="DCE8ED"/>
                </a:solidFill>
                <a:latin typeface="Courier New"/>
                <a:ea typeface="Courier New"/>
                <a:cs typeface="Courier New"/>
              </a:rPr>
              <a:t>    steps:</a:t>
            </a:r>
          </a:p>
          <a:p>
            <a:pPr algn="l">
              <a:lnSpc>
                <a:spcPct val="100000"/>
              </a:lnSpc>
              <a:buNone/>
              <a:defRPr sz="1238" b="0" i="0">
                <a:solidFill>
                  <a:srgbClr val="DCE8ED"/>
                </a:solidFill>
                <a:latin typeface="Courier New"/>
                <a:ea typeface="Courier New"/>
                <a:cs typeface="Courier New"/>
              </a:defRPr>
            </a:pPr>
            <a:r>
              <a:rPr sz="1238" b="0" i="0" dirty="0">
                <a:solidFill>
                  <a:srgbClr val="DCE8ED"/>
                </a:solidFill>
                <a:latin typeface="Courier New"/>
                <a:ea typeface="Courier New"/>
                <a:cs typeface="Courier New"/>
              </a:rPr>
              <a:t>      - uses: actions/checkout@&lt;full-commit-SHA&gt;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3C9882-0240-40A6-8F3C-08BDA714379D}"/>
              </a:ext>
            </a:extLst>
          </p:cNvPr>
          <p:cNvSpPr>
            <a:spLocks noGrp="1"/>
          </p:cNvSpPr>
          <p:nvPr/>
        </p:nvSpPr>
        <p:spPr>
          <a:xfrm>
            <a:off x="876300" y="5410200"/>
            <a:ext cx="4191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4000"/>
              </a:lnSpc>
              <a:buNone/>
              <a:defRPr sz="1163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Short-lived identity • restricted token • reviewed action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074753-EA49-4AAE-99FA-88F3C4878EB9}"/>
              </a:ext>
            </a:extLst>
          </p:cNvPr>
          <p:cNvSpPr>
            <a:spLocks noGrp="1"/>
          </p:cNvSpPr>
          <p:nvPr/>
        </p:nvSpPr>
        <p:spPr>
          <a:xfrm>
            <a:off x="5953125" y="17145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HARDEN THE AUTOMATION PATH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B031E5-1504-4CB0-8B91-7757145A0C34}"/>
              </a:ext>
            </a:extLst>
          </p:cNvPr>
          <p:cNvSpPr>
            <a:spLocks noGrp="1"/>
          </p:cNvSpPr>
          <p:nvPr/>
        </p:nvSpPr>
        <p:spPr>
          <a:xfrm>
            <a:off x="5953125" y="2181225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79EEE4-C590-4A77-9D8B-A4E307E4CD6F}"/>
              </a:ext>
            </a:extLst>
          </p:cNvPr>
          <p:cNvSpPr>
            <a:spLocks noGrp="1"/>
          </p:cNvSpPr>
          <p:nvPr/>
        </p:nvSpPr>
        <p:spPr>
          <a:xfrm>
            <a:off x="6143625" y="2114550"/>
            <a:ext cx="5143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Keep credentials out of Git history. </a:t>
            </a:r>
            <a:r>
              <a:rPr sz="1275">
                <a:solidFill>
                  <a:srgbClr val="102637"/>
                </a:solidFill>
                <a:latin typeface="Aptos"/>
                <a:ea typeface="Aptos"/>
                <a:cs typeface="Aptos"/>
              </a:rPr>
              <a:t>Use encrypted environment secrets and enable push protection.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7D44A6-7D90-4660-892C-27EDF2CBC25E}"/>
              </a:ext>
            </a:extLst>
          </p:cNvPr>
          <p:cNvSpPr>
            <a:spLocks noGrp="1"/>
          </p:cNvSpPr>
          <p:nvPr/>
        </p:nvSpPr>
        <p:spPr>
          <a:xfrm>
            <a:off x="5953125" y="2809875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2DFE31-E78C-4EE6-8306-7BA7365E3AB6}"/>
              </a:ext>
            </a:extLst>
          </p:cNvPr>
          <p:cNvSpPr>
            <a:spLocks noGrp="1"/>
          </p:cNvSpPr>
          <p:nvPr/>
        </p:nvSpPr>
        <p:spPr>
          <a:xfrm>
            <a:off x="6143625" y="2743200"/>
            <a:ext cx="514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Prefer OIDC and short-lived cloud access. </a:t>
            </a:r>
            <a:r>
              <a:rPr sz="1275">
                <a:solidFill>
                  <a:srgbClr val="102637"/>
                </a:solidFill>
                <a:latin typeface="Aptos"/>
                <a:ea typeface="Aptos"/>
                <a:cs typeface="Aptos"/>
              </a:rPr>
              <a:t>Avoid long-lived AWS, Azure, or Google Cloud keys in repository settings.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FE7B07-B9C1-44A2-AF6A-F6D3DE51BB07}"/>
              </a:ext>
            </a:extLst>
          </p:cNvPr>
          <p:cNvSpPr>
            <a:spLocks noGrp="1"/>
          </p:cNvSpPr>
          <p:nvPr/>
        </p:nvSpPr>
        <p:spPr>
          <a:xfrm>
            <a:off x="5953125" y="3486150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6E186E-E363-4836-B0C6-B47413598B2B}"/>
              </a:ext>
            </a:extLst>
          </p:cNvPr>
          <p:cNvSpPr>
            <a:spLocks noGrp="1"/>
          </p:cNvSpPr>
          <p:nvPr/>
        </p:nvSpPr>
        <p:spPr>
          <a:xfrm>
            <a:off x="6143625" y="3419475"/>
            <a:ext cx="514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Limit the GITHUB_TOKEN. </a:t>
            </a:r>
            <a:r>
              <a:rPr sz="1275">
                <a:solidFill>
                  <a:srgbClr val="102637"/>
                </a:solidFill>
                <a:latin typeface="Aptos"/>
                <a:ea typeface="Aptos"/>
                <a:cs typeface="Aptos"/>
              </a:rPr>
              <a:t>Set read-only defaults and elevate permissions only for the specific job that needs them.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CD74C2-7607-4229-91EC-F4A9F24F5864}"/>
              </a:ext>
            </a:extLst>
          </p:cNvPr>
          <p:cNvSpPr>
            <a:spLocks noGrp="1"/>
          </p:cNvSpPr>
          <p:nvPr/>
        </p:nvSpPr>
        <p:spPr>
          <a:xfrm>
            <a:off x="5953125" y="4191000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ABB8A2-0753-49A6-8819-B12DDCECB3C3}"/>
              </a:ext>
            </a:extLst>
          </p:cNvPr>
          <p:cNvSpPr>
            <a:spLocks noGrp="1"/>
          </p:cNvSpPr>
          <p:nvPr/>
        </p:nvSpPr>
        <p:spPr>
          <a:xfrm>
            <a:off x="6143625" y="4124325"/>
            <a:ext cx="514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Pin third-party actions to a full SHA. </a:t>
            </a:r>
            <a:r>
              <a:rPr sz="1275">
                <a:solidFill>
                  <a:srgbClr val="102637"/>
                </a:solidFill>
                <a:latin typeface="Aptos"/>
                <a:ea typeface="Aptos"/>
                <a:cs typeface="Aptos"/>
              </a:rPr>
              <a:t>Tags can move; a full commit identifier creates an immutable reference.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E90597-4E4C-4034-8283-CBEB2A1840F7}"/>
              </a:ext>
            </a:extLst>
          </p:cNvPr>
          <p:cNvSpPr>
            <a:spLocks noGrp="1"/>
          </p:cNvSpPr>
          <p:nvPr/>
        </p:nvSpPr>
        <p:spPr>
          <a:xfrm>
            <a:off x="5953125" y="4867275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48FBF53-08E8-41B8-A8AF-95A51D1F3562}"/>
              </a:ext>
            </a:extLst>
          </p:cNvPr>
          <p:cNvSpPr>
            <a:spLocks noGrp="1"/>
          </p:cNvSpPr>
          <p:nvPr/>
        </p:nvSpPr>
        <p:spPr>
          <a:xfrm>
            <a:off x="6143625" y="4800600"/>
            <a:ext cx="514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75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Protect production environments. </a:t>
            </a:r>
            <a:r>
              <a:rPr sz="1275">
                <a:solidFill>
                  <a:srgbClr val="102637"/>
                </a:solidFill>
                <a:latin typeface="Aptos"/>
                <a:ea typeface="Aptos"/>
                <a:cs typeface="Aptos"/>
              </a:rPr>
              <a:t>Require approval, isolate deployment roles, and review workflow changes with CODEOWNERS.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A419F17-E977-4BC7-B64C-F8CB3D8E89CC}"/>
              </a:ext>
            </a:extLst>
          </p:cNvPr>
          <p:cNvSpPr>
            <a:spLocks noGrp="1"/>
          </p:cNvSpPr>
          <p:nvPr/>
        </p:nvSpPr>
        <p:spPr>
          <a:xfrm>
            <a:off x="5953125" y="5638800"/>
            <a:ext cx="5334000" cy="457200"/>
          </a:xfrm>
          <a:prstGeom prst="roundRect">
            <a:avLst>
              <a:gd name="adj" fmla="val 18750"/>
            </a:avLst>
          </a:prstGeom>
          <a:solidFill>
            <a:srgbClr val="FFF1D2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F4D20A-A9ED-4E72-A2ED-A7E3A6AF0AE3}"/>
              </a:ext>
            </a:extLst>
          </p:cNvPr>
          <p:cNvSpPr>
            <a:spLocks noGrp="1"/>
          </p:cNvSpPr>
          <p:nvPr/>
        </p:nvSpPr>
        <p:spPr>
          <a:xfrm>
            <a:off x="6153150" y="5743575"/>
            <a:ext cx="4933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498"/>
          </a:bodyPr>
          <a:lstStyle/>
          <a:p>
            <a:pPr algn="ctr">
              <a:lnSpc>
                <a:spcPct val="104000"/>
              </a:lnSpc>
              <a:buNone/>
              <a:defRPr sz="1313" b="1" i="0">
                <a:solidFill>
                  <a:srgbClr val="704A00"/>
                </a:solidFill>
                <a:latin typeface="Aptos"/>
                <a:ea typeface="Aptos"/>
                <a:cs typeface="Aptos"/>
              </a:defRPr>
            </a:pPr>
            <a:r>
              <a:rPr sz="1313" b="1" i="0">
                <a:solidFill>
                  <a:srgbClr val="704A00"/>
                </a:solidFill>
                <a:latin typeface="Aptos"/>
                <a:ea typeface="Aptos"/>
                <a:cs typeface="Aptos"/>
              </a:rPr>
              <a:t>A clean application cannot compensate for a compromised build.</a:t>
            </a:r>
          </a:p>
        </p:txBody>
      </p:sp>
      <p:sp>
        <p:nvSpPr>
          <p:cNvPr id="26" name="footer-rule-6">
            <a:extLst>
              <a:ext uri="{FF2B5EF4-FFF2-40B4-BE49-F238E27FC236}">
                <a16:creationId xmlns:a16="http://schemas.microsoft.com/office/drawing/2014/main" id="{5EC0252B-75B2-4C69-AB3C-DFE3F380FC42}"/>
              </a:ext>
            </a:extLst>
          </p:cNvPr>
          <p:cNvSpPr>
            <a:spLocks noGrp="1"/>
          </p:cNvSpPr>
          <p:nvPr/>
        </p:nvSpPr>
        <p:spPr>
          <a:xfrm>
            <a:off x="609600" y="6638925"/>
            <a:ext cx="10972800" cy="9525"/>
          </a:xfrm>
          <a:prstGeom prst="rect">
            <a:avLst/>
          </a:prstGeom>
          <a:solidFill>
            <a:srgbClr val="CFD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page-footer-6">
            <a:extLst>
              <a:ext uri="{FF2B5EF4-FFF2-40B4-BE49-F238E27FC236}">
                <a16:creationId xmlns:a16="http://schemas.microsoft.com/office/drawing/2014/main" id="{29B0923D-D907-4ABD-A4BB-3C1C9BA324CB}"/>
              </a:ext>
            </a:extLst>
          </p:cNvPr>
          <p:cNvSpPr>
            <a:spLocks noGrp="1"/>
          </p:cNvSpPr>
          <p:nvPr/>
        </p:nvSpPr>
        <p:spPr>
          <a:xfrm>
            <a:off x="11239500" y="6677025"/>
            <a:ext cx="342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4000"/>
              </a:lnSpc>
              <a:buNone/>
              <a:defRPr sz="750" b="1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83847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ection-7">
            <a:extLst>
              <a:ext uri="{FF2B5EF4-FFF2-40B4-BE49-F238E27FC236}">
                <a16:creationId xmlns:a16="http://schemas.microsoft.com/office/drawing/2014/main" id="{375D9752-87F8-44DB-A870-7E8238840D47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rPr>
              <a:t>CONTROL 5 — OPERATIONS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809C32C4-1FDF-4972-8BC1-2FB0F0712B97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888"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rPr>
              <a:t>Give every control an owner, evidence, and response path</a:t>
            </a:r>
          </a:p>
        </p:txBody>
      </p:sp>
      <p:sp>
        <p:nvSpPr>
          <p:cNvPr id="3" name="accent-7">
            <a:extLst>
              <a:ext uri="{FF2B5EF4-FFF2-40B4-BE49-F238E27FC236}">
                <a16:creationId xmlns:a16="http://schemas.microsoft.com/office/drawing/2014/main" id="{DDA2BFC5-4396-4BA4-A377-BA233184A157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239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98AF7B-D536-4B73-BF8E-198627722D1D}"/>
              </a:ext>
            </a:extLst>
          </p:cNvPr>
          <p:cNvSpPr>
            <a:spLocks noGrp="1"/>
          </p:cNvSpPr>
          <p:nvPr/>
        </p:nvSpPr>
        <p:spPr>
          <a:xfrm>
            <a:off x="685800" y="1704975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OPERATING LOOP</a:t>
            </a:r>
          </a:p>
        </p:txBody>
      </p:sp>
      <p:sp>
        <p:nvSpPr>
          <p:cNvPr id="6" name="ops-loop-line">
            <a:extLst>
              <a:ext uri="{FF2B5EF4-FFF2-40B4-BE49-F238E27FC236}">
                <a16:creationId xmlns:a16="http://schemas.microsoft.com/office/drawing/2014/main" id="{7251636A-0DA2-493A-97BE-EBCACC94CB62}"/>
              </a:ext>
            </a:extLst>
          </p:cNvPr>
          <p:cNvSpPr>
            <a:spLocks noGrp="1"/>
          </p:cNvSpPr>
          <p:nvPr/>
        </p:nvSpPr>
        <p:spPr>
          <a:xfrm>
            <a:off x="1009650" y="2238375"/>
            <a:ext cx="28575" cy="3238500"/>
          </a:xfrm>
          <a:prstGeom prst="rect">
            <a:avLst/>
          </a:prstGeom>
          <a:solidFill>
            <a:srgbClr val="CFD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ps-loop-1">
            <a:extLst>
              <a:ext uri="{FF2B5EF4-FFF2-40B4-BE49-F238E27FC236}">
                <a16:creationId xmlns:a16="http://schemas.microsoft.com/office/drawing/2014/main" id="{B0C87AC3-DCB2-49D4-9A8F-88A27B3A2234}"/>
              </a:ext>
            </a:extLst>
          </p:cNvPr>
          <p:cNvSpPr>
            <a:spLocks noGrp="1"/>
          </p:cNvSpPr>
          <p:nvPr/>
        </p:nvSpPr>
        <p:spPr>
          <a:xfrm>
            <a:off x="866775" y="2324100"/>
            <a:ext cx="314325" cy="314325"/>
          </a:xfrm>
          <a:prstGeom prst="ellipse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D39850-68F4-4D54-9A6F-7E699ED8B1D2}"/>
              </a:ext>
            </a:extLst>
          </p:cNvPr>
          <p:cNvSpPr>
            <a:spLocks noGrp="1"/>
          </p:cNvSpPr>
          <p:nvPr/>
        </p:nvSpPr>
        <p:spPr>
          <a:xfrm>
            <a:off x="866775" y="2381250"/>
            <a:ext cx="3143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DA5AF0-D1EB-4A89-BA66-7B890ACA191B}"/>
              </a:ext>
            </a:extLst>
          </p:cNvPr>
          <p:cNvSpPr>
            <a:spLocks noGrp="1"/>
          </p:cNvSpPr>
          <p:nvPr/>
        </p:nvSpPr>
        <p:spPr>
          <a:xfrm>
            <a:off x="1381125" y="22860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637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EDAFA6-9271-4E57-BADF-29C6BF6A7C6C}"/>
              </a:ext>
            </a:extLst>
          </p:cNvPr>
          <p:cNvSpPr>
            <a:spLocks noGrp="1"/>
          </p:cNvSpPr>
          <p:nvPr/>
        </p:nvSpPr>
        <p:spPr>
          <a:xfrm>
            <a:off x="2571750" y="2276475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63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Audit logs, ruleset changes, security alerts, unusual authentication, and workflow edits.</a:t>
            </a:r>
          </a:p>
        </p:txBody>
      </p:sp>
      <p:sp>
        <p:nvSpPr>
          <p:cNvPr id="11" name="ops-loop-2">
            <a:extLst>
              <a:ext uri="{FF2B5EF4-FFF2-40B4-BE49-F238E27FC236}">
                <a16:creationId xmlns:a16="http://schemas.microsoft.com/office/drawing/2014/main" id="{3459CC13-E796-472C-A92D-3754CA503783}"/>
              </a:ext>
            </a:extLst>
          </p:cNvPr>
          <p:cNvSpPr>
            <a:spLocks noGrp="1"/>
          </p:cNvSpPr>
          <p:nvPr/>
        </p:nvSpPr>
        <p:spPr>
          <a:xfrm>
            <a:off x="866775" y="3190875"/>
            <a:ext cx="314325" cy="314325"/>
          </a:xfrm>
          <a:prstGeom prst="ellipse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7E9207-8A3C-43EA-85B4-82AD584253D9}"/>
              </a:ext>
            </a:extLst>
          </p:cNvPr>
          <p:cNvSpPr>
            <a:spLocks noGrp="1"/>
          </p:cNvSpPr>
          <p:nvPr/>
        </p:nvSpPr>
        <p:spPr>
          <a:xfrm>
            <a:off x="866775" y="3248025"/>
            <a:ext cx="3143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9B427E-F26D-46CB-ABC9-FBF15B765B12}"/>
              </a:ext>
            </a:extLst>
          </p:cNvPr>
          <p:cNvSpPr>
            <a:spLocks noGrp="1"/>
          </p:cNvSpPr>
          <p:nvPr/>
        </p:nvSpPr>
        <p:spPr>
          <a:xfrm>
            <a:off x="1381125" y="31527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637"/>
                </a:solidFill>
                <a:latin typeface="Aptos"/>
                <a:ea typeface="Aptos"/>
                <a:cs typeface="Aptos"/>
              </a:rPr>
              <a:t>TRIAGE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17E96E-F341-49DE-AD24-49F74A6C7F56}"/>
              </a:ext>
            </a:extLst>
          </p:cNvPr>
          <p:cNvSpPr>
            <a:spLocks noGrp="1"/>
          </p:cNvSpPr>
          <p:nvPr/>
        </p:nvSpPr>
        <p:spPr>
          <a:xfrm>
            <a:off x="2571750" y="314325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51" lnSpcReduction="10000"/>
          </a:bodyPr>
          <a:lstStyle/>
          <a:p>
            <a:pPr algn="l">
              <a:lnSpc>
                <a:spcPct val="104000"/>
              </a:lnSpc>
              <a:buNone/>
              <a:defRPr sz="1163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Assign severity, accountable owner, remediation deadline, and documented exception.</a:t>
            </a:r>
          </a:p>
        </p:txBody>
      </p:sp>
      <p:sp>
        <p:nvSpPr>
          <p:cNvPr id="15" name="ops-loop-3">
            <a:extLst>
              <a:ext uri="{FF2B5EF4-FFF2-40B4-BE49-F238E27FC236}">
                <a16:creationId xmlns:a16="http://schemas.microsoft.com/office/drawing/2014/main" id="{F2031967-0852-4908-A237-C5AA3E7A7B33}"/>
              </a:ext>
            </a:extLst>
          </p:cNvPr>
          <p:cNvSpPr>
            <a:spLocks noGrp="1"/>
          </p:cNvSpPr>
          <p:nvPr/>
        </p:nvSpPr>
        <p:spPr>
          <a:xfrm>
            <a:off x="866775" y="4057650"/>
            <a:ext cx="314325" cy="314325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320701-ECCF-4A56-B101-839283B829A0}"/>
              </a:ext>
            </a:extLst>
          </p:cNvPr>
          <p:cNvSpPr>
            <a:spLocks noGrp="1"/>
          </p:cNvSpPr>
          <p:nvPr/>
        </p:nvSpPr>
        <p:spPr>
          <a:xfrm>
            <a:off x="866775" y="4114800"/>
            <a:ext cx="3143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071726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07172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1A67BE-DF96-43FB-AB2B-CEABB95590D1}"/>
              </a:ext>
            </a:extLst>
          </p:cNvPr>
          <p:cNvSpPr>
            <a:spLocks noGrp="1"/>
          </p:cNvSpPr>
          <p:nvPr/>
        </p:nvSpPr>
        <p:spPr>
          <a:xfrm>
            <a:off x="1381125" y="40195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637"/>
                </a:solidFill>
                <a:latin typeface="Aptos"/>
                <a:ea typeface="Aptos"/>
                <a:cs typeface="Aptos"/>
              </a:rPr>
              <a:t>CONTAIN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0A9654-0371-408F-B9A6-54FF23E1BAC6}"/>
              </a:ext>
            </a:extLst>
          </p:cNvPr>
          <p:cNvSpPr>
            <a:spLocks noGrp="1"/>
          </p:cNvSpPr>
          <p:nvPr/>
        </p:nvSpPr>
        <p:spPr>
          <a:xfrm>
            <a:off x="2571750" y="4010025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942"/>
          </a:bodyPr>
          <a:lstStyle/>
          <a:p>
            <a:pPr algn="l">
              <a:lnSpc>
                <a:spcPct val="104000"/>
              </a:lnSpc>
              <a:buNone/>
              <a:defRPr sz="1163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Revoke tokens, rotate credentials, disable unsafe workflows, and protect affected branches.</a:t>
            </a:r>
          </a:p>
        </p:txBody>
      </p:sp>
      <p:sp>
        <p:nvSpPr>
          <p:cNvPr id="19" name="ops-loop-4">
            <a:extLst>
              <a:ext uri="{FF2B5EF4-FFF2-40B4-BE49-F238E27FC236}">
                <a16:creationId xmlns:a16="http://schemas.microsoft.com/office/drawing/2014/main" id="{4E6CFA98-E5C2-490C-BF55-FA6D743A7BD1}"/>
              </a:ext>
            </a:extLst>
          </p:cNvPr>
          <p:cNvSpPr>
            <a:spLocks noGrp="1"/>
          </p:cNvSpPr>
          <p:nvPr/>
        </p:nvSpPr>
        <p:spPr>
          <a:xfrm>
            <a:off x="866775" y="4924425"/>
            <a:ext cx="314325" cy="314325"/>
          </a:xfrm>
          <a:prstGeom prst="ellipse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A6F2D8-A1A7-480B-8203-0471217DB1E3}"/>
              </a:ext>
            </a:extLst>
          </p:cNvPr>
          <p:cNvSpPr>
            <a:spLocks noGrp="1"/>
          </p:cNvSpPr>
          <p:nvPr/>
        </p:nvSpPr>
        <p:spPr>
          <a:xfrm>
            <a:off x="866775" y="4981575"/>
            <a:ext cx="3143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4E610D-1E80-4B37-8CF7-5D52A31EC8D3}"/>
              </a:ext>
            </a:extLst>
          </p:cNvPr>
          <p:cNvSpPr>
            <a:spLocks noGrp="1"/>
          </p:cNvSpPr>
          <p:nvPr/>
        </p:nvSpPr>
        <p:spPr>
          <a:xfrm>
            <a:off x="1381125" y="488632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25" b="1" i="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02637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5D3B7F-2DDF-444A-8885-3B892B5DC3C6}"/>
              </a:ext>
            </a:extLst>
          </p:cNvPr>
          <p:cNvSpPr>
            <a:spLocks noGrp="1"/>
          </p:cNvSpPr>
          <p:nvPr/>
        </p:nvSpPr>
        <p:spPr>
          <a:xfrm>
            <a:off x="2571750" y="4876800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63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Capture root cause, then improve rules, tests, runbooks, and developer guidance.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E51E58-3643-487B-89E9-AF373F8C70D3}"/>
              </a:ext>
            </a:extLst>
          </p:cNvPr>
          <p:cNvSpPr>
            <a:spLocks noGrp="1"/>
          </p:cNvSpPr>
          <p:nvPr/>
        </p:nvSpPr>
        <p:spPr>
          <a:xfrm>
            <a:off x="6524625" y="1704975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REPOSITORY ESSENTIALS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034FF4E-F3A4-43C4-9268-93E0115DABAA}"/>
              </a:ext>
            </a:extLst>
          </p:cNvPr>
          <p:cNvSpPr>
            <a:spLocks noGrp="1"/>
          </p:cNvSpPr>
          <p:nvPr/>
        </p:nvSpPr>
        <p:spPr>
          <a:xfrm>
            <a:off x="6429375" y="2057400"/>
            <a:ext cx="4857750" cy="3171825"/>
          </a:xfrm>
          <a:prstGeom prst="roundRect">
            <a:avLst>
              <a:gd name="adj" fmla="val 4204"/>
            </a:avLst>
          </a:prstGeom>
          <a:solidFill>
            <a:srgbClr val="FFFFFF"/>
          </a:solidFill>
          <a:ln w="9525">
            <a:solidFill>
              <a:srgbClr val="CFDCE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AAB069-2C52-4A39-BCDD-D7518169CDAF}"/>
              </a:ext>
            </a:extLst>
          </p:cNvPr>
          <p:cNvSpPr>
            <a:spLocks noGrp="1"/>
          </p:cNvSpPr>
          <p:nvPr/>
        </p:nvSpPr>
        <p:spPr>
          <a:xfrm>
            <a:off x="6715125" y="2390775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1A301A-250F-4CCF-AF32-F4AE0DA4F0E2}"/>
              </a:ext>
            </a:extLst>
          </p:cNvPr>
          <p:cNvSpPr>
            <a:spLocks noGrp="1"/>
          </p:cNvSpPr>
          <p:nvPr/>
        </p:nvSpPr>
        <p:spPr>
          <a:xfrm>
            <a:off x="6905625" y="2324100"/>
            <a:ext cx="4048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SECURITY.md </a:t>
            </a:r>
            <a:r>
              <a:rPr sz="1238">
                <a:solidFill>
                  <a:srgbClr val="102637"/>
                </a:solidFill>
                <a:latin typeface="Aptos"/>
                <a:ea typeface="Aptos"/>
                <a:cs typeface="Aptos"/>
              </a:rPr>
              <a:t>Supported versions, reporting instructions, and a monitored security contact.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D6D41CD-462F-4435-8695-ECDC59967DBA}"/>
              </a:ext>
            </a:extLst>
          </p:cNvPr>
          <p:cNvSpPr>
            <a:spLocks noGrp="1"/>
          </p:cNvSpPr>
          <p:nvPr/>
        </p:nvSpPr>
        <p:spPr>
          <a:xfrm>
            <a:off x="6715125" y="3019425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5B5D2B-66CD-4D77-B6DB-D49B8246300A}"/>
              </a:ext>
            </a:extLst>
          </p:cNvPr>
          <p:cNvSpPr>
            <a:spLocks noGrp="1"/>
          </p:cNvSpPr>
          <p:nvPr/>
        </p:nvSpPr>
        <p:spPr>
          <a:xfrm>
            <a:off x="6905625" y="2952750"/>
            <a:ext cx="4048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Private vulnerability reporting </a:t>
            </a:r>
            <a:r>
              <a:rPr sz="1238">
                <a:solidFill>
                  <a:srgbClr val="102637"/>
                </a:solidFill>
                <a:latin typeface="Aptos"/>
                <a:ea typeface="Aptos"/>
                <a:cs typeface="Aptos"/>
              </a:rPr>
              <a:t>A safe channel for coordinated disclosure before details become public.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343B8A-42F5-4D33-B7FB-0325697D2876}"/>
              </a:ext>
            </a:extLst>
          </p:cNvPr>
          <p:cNvSpPr>
            <a:spLocks noGrp="1"/>
          </p:cNvSpPr>
          <p:nvPr/>
        </p:nvSpPr>
        <p:spPr>
          <a:xfrm>
            <a:off x="6715125" y="3667125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5F52DA-C82D-4DA4-9E57-1B77C5DEB65C}"/>
              </a:ext>
            </a:extLst>
          </p:cNvPr>
          <p:cNvSpPr>
            <a:spLocks noGrp="1"/>
          </p:cNvSpPr>
          <p:nvPr/>
        </p:nvSpPr>
        <p:spPr>
          <a:xfrm>
            <a:off x="6905625" y="3600450"/>
            <a:ext cx="4048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Named ownership </a:t>
            </a:r>
            <a:r>
              <a:rPr sz="1238">
                <a:solidFill>
                  <a:srgbClr val="102637"/>
                </a:solidFill>
                <a:latin typeface="Aptos"/>
                <a:ea typeface="Aptos"/>
                <a:cs typeface="Aptos"/>
              </a:rPr>
              <a:t>CODEOWNERS, repository owner, security lead, and incident contacts.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8D0C56-B617-4C2B-984A-12C3CC8A37E3}"/>
              </a:ext>
            </a:extLst>
          </p:cNvPr>
          <p:cNvSpPr>
            <a:spLocks noGrp="1"/>
          </p:cNvSpPr>
          <p:nvPr/>
        </p:nvSpPr>
        <p:spPr>
          <a:xfrm>
            <a:off x="6715125" y="4295775"/>
            <a:ext cx="76200" cy="76200"/>
          </a:xfrm>
          <a:prstGeom prst="rect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D5B573-4BD3-4764-A5E8-06BC84130336}"/>
              </a:ext>
            </a:extLst>
          </p:cNvPr>
          <p:cNvSpPr>
            <a:spLocks noGrp="1"/>
          </p:cNvSpPr>
          <p:nvPr/>
        </p:nvSpPr>
        <p:spPr>
          <a:xfrm>
            <a:off x="6905625" y="4229100"/>
            <a:ext cx="40481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238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02637"/>
                </a:solidFill>
                <a:latin typeface="Aptos"/>
                <a:ea typeface="Aptos"/>
                <a:cs typeface="Aptos"/>
              </a:rPr>
              <a:t>Alert routing and runbooks </a:t>
            </a:r>
            <a:r>
              <a:rPr sz="1238">
                <a:solidFill>
                  <a:srgbClr val="102637"/>
                </a:solidFill>
                <a:latin typeface="Aptos"/>
                <a:ea typeface="Aptos"/>
                <a:cs typeface="Aptos"/>
              </a:rPr>
              <a:t>Who responds, what gets rotated, and how evidence is preserved.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FBB94E-C215-470B-9779-10EF54BD83A0}"/>
              </a:ext>
            </a:extLst>
          </p:cNvPr>
          <p:cNvSpPr>
            <a:spLocks noGrp="1"/>
          </p:cNvSpPr>
          <p:nvPr/>
        </p:nvSpPr>
        <p:spPr>
          <a:xfrm>
            <a:off x="6429375" y="550545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MEASURE BEHAVIOR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637D76-4427-4993-B233-E48ECBDA77FA}"/>
              </a:ext>
            </a:extLst>
          </p:cNvPr>
          <p:cNvSpPr>
            <a:spLocks noGrp="1"/>
          </p:cNvSpPr>
          <p:nvPr/>
        </p:nvSpPr>
        <p:spPr>
          <a:xfrm>
            <a:off x="6429375" y="5781675"/>
            <a:ext cx="4857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420" lnSpcReduction="10000"/>
          </a:bodyPr>
          <a:lstStyle/>
          <a:p>
            <a:pPr algn="l">
              <a:lnSpc>
                <a:spcPct val="100000"/>
              </a:lnSpc>
              <a:buNone/>
              <a:defRPr sz="1163" b="0" i="0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 b="0" i="0">
                <a:solidFill>
                  <a:srgbClr val="102637"/>
                </a:solidFill>
                <a:latin typeface="Aptos"/>
                <a:ea typeface="Aptos"/>
                <a:cs typeface="Aptos"/>
              </a:rPr>
              <a:t>% protected repositories  •  bypass events  •  blocked secret pushes  •  time to remediate critical alerts</a:t>
            </a:r>
          </a:p>
        </p:txBody>
      </p:sp>
      <p:sp>
        <p:nvSpPr>
          <p:cNvPr id="36" name="footer-rule-7">
            <a:extLst>
              <a:ext uri="{FF2B5EF4-FFF2-40B4-BE49-F238E27FC236}">
                <a16:creationId xmlns:a16="http://schemas.microsoft.com/office/drawing/2014/main" id="{85D4E06B-68A4-4393-9F45-DE1457007856}"/>
              </a:ext>
            </a:extLst>
          </p:cNvPr>
          <p:cNvSpPr>
            <a:spLocks noGrp="1"/>
          </p:cNvSpPr>
          <p:nvPr/>
        </p:nvSpPr>
        <p:spPr>
          <a:xfrm>
            <a:off x="609600" y="6638925"/>
            <a:ext cx="10972800" cy="9525"/>
          </a:xfrm>
          <a:prstGeom prst="rect">
            <a:avLst/>
          </a:prstGeom>
          <a:solidFill>
            <a:srgbClr val="CFD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page-footer-7">
            <a:extLst>
              <a:ext uri="{FF2B5EF4-FFF2-40B4-BE49-F238E27FC236}">
                <a16:creationId xmlns:a16="http://schemas.microsoft.com/office/drawing/2014/main" id="{44CE0725-4B88-42BD-B197-EF4EBB4A3775}"/>
              </a:ext>
            </a:extLst>
          </p:cNvPr>
          <p:cNvSpPr>
            <a:spLocks noGrp="1"/>
          </p:cNvSpPr>
          <p:nvPr/>
        </p:nvSpPr>
        <p:spPr>
          <a:xfrm>
            <a:off x="11239500" y="6677025"/>
            <a:ext cx="342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4000"/>
              </a:lnSpc>
              <a:buNone/>
              <a:defRPr sz="750" b="1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38346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ection-8">
            <a:extLst>
              <a:ext uri="{FF2B5EF4-FFF2-40B4-BE49-F238E27FC236}">
                <a16:creationId xmlns:a16="http://schemas.microsoft.com/office/drawing/2014/main" id="{8FE3B34D-74DA-4B72-90AB-F5E33B22F4A4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rPr>
              <a:t>PUTTING IT INTO PRACTICE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29CAF909-559B-4E31-B478-21E40F50839D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rPr>
              <a:t>Roll out the controls in a sequence teams can sustain</a:t>
            </a:r>
          </a:p>
        </p:txBody>
      </p:sp>
      <p:sp>
        <p:nvSpPr>
          <p:cNvPr id="3" name="accent-8">
            <a:extLst>
              <a:ext uri="{FF2B5EF4-FFF2-40B4-BE49-F238E27FC236}">
                <a16:creationId xmlns:a16="http://schemas.microsoft.com/office/drawing/2014/main" id="{AFCCA9C9-06EE-467A-9178-FA94003823D4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239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13CF06-94CB-4889-9EA7-50052652F3FC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050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A 30-DAY BASELINE</a:t>
            </a:r>
          </a:p>
        </p:txBody>
      </p:sp>
      <p:sp>
        <p:nvSpPr>
          <p:cNvPr id="6" name="rollout-line">
            <a:extLst>
              <a:ext uri="{FF2B5EF4-FFF2-40B4-BE49-F238E27FC236}">
                <a16:creationId xmlns:a16="http://schemas.microsoft.com/office/drawing/2014/main" id="{2CA7D804-D15A-4F98-85A8-2F9360AF00B0}"/>
              </a:ext>
            </a:extLst>
          </p:cNvPr>
          <p:cNvSpPr>
            <a:spLocks noGrp="1"/>
          </p:cNvSpPr>
          <p:nvPr/>
        </p:nvSpPr>
        <p:spPr>
          <a:xfrm>
            <a:off x="952500" y="2466975"/>
            <a:ext cx="9906000" cy="47625"/>
          </a:xfrm>
          <a:prstGeom prst="rect">
            <a:avLst/>
          </a:prstGeom>
          <a:solidFill>
            <a:srgbClr val="CFD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phase-node-1">
            <a:extLst>
              <a:ext uri="{FF2B5EF4-FFF2-40B4-BE49-F238E27FC236}">
                <a16:creationId xmlns:a16="http://schemas.microsoft.com/office/drawing/2014/main" id="{1C6DC48C-6757-4270-9EDF-E3BEF5EC97AE}"/>
              </a:ext>
            </a:extLst>
          </p:cNvPr>
          <p:cNvSpPr>
            <a:spLocks noGrp="1"/>
          </p:cNvSpPr>
          <p:nvPr/>
        </p:nvSpPr>
        <p:spPr>
          <a:xfrm>
            <a:off x="952500" y="2295525"/>
            <a:ext cx="381000" cy="381000"/>
          </a:xfrm>
          <a:prstGeom prst="ellipse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B75D9C-DF53-415E-9DF0-9D43E6485FF4}"/>
              </a:ext>
            </a:extLst>
          </p:cNvPr>
          <p:cNvSpPr>
            <a:spLocks noGrp="1"/>
          </p:cNvSpPr>
          <p:nvPr/>
        </p:nvSpPr>
        <p:spPr>
          <a:xfrm>
            <a:off x="952500" y="23907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02F210-CCEF-46C9-B998-F92D891224F8}"/>
              </a:ext>
            </a:extLst>
          </p:cNvPr>
          <p:cNvSpPr>
            <a:spLocks noGrp="1"/>
          </p:cNvSpPr>
          <p:nvPr/>
        </p:nvSpPr>
        <p:spPr>
          <a:xfrm>
            <a:off x="800100" y="286702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DAYS 1–7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FE1122-875B-461E-8FCD-2A7D7AC249BE}"/>
              </a:ext>
            </a:extLst>
          </p:cNvPr>
          <p:cNvSpPr>
            <a:spLocks noGrp="1"/>
          </p:cNvSpPr>
          <p:nvPr/>
        </p:nvSpPr>
        <p:spPr>
          <a:xfrm>
            <a:off x="800100" y="3171825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6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rPr>
              <a:t>Close the obvious gaps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62003A-6FFF-49CC-B77E-04A7C55A451F}"/>
              </a:ext>
            </a:extLst>
          </p:cNvPr>
          <p:cNvSpPr>
            <a:spLocks noGrp="1"/>
          </p:cNvSpPr>
          <p:nvPr/>
        </p:nvSpPr>
        <p:spPr>
          <a:xfrm>
            <a:off x="800100" y="3800475"/>
            <a:ext cx="30003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• Inventory repositories, owners, and admins</a:t>
            </a:r>
          </a:p>
          <a:p>
            <a:pPr algn="l">
              <a:lnSpc>
                <a:spcPct val="108000"/>
              </a:lnSpc>
              <a:buNone/>
              <a:defRPr sz="1200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• Require 2FA and team-based roles</a:t>
            </a:r>
          </a:p>
          <a:p>
            <a:pPr algn="l">
              <a:lnSpc>
                <a:spcPct val="108000"/>
              </a:lnSpc>
              <a:buNone/>
              <a:defRPr sz="1200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• Protect main; require PR review and checks</a:t>
            </a:r>
          </a:p>
        </p:txBody>
      </p:sp>
      <p:sp>
        <p:nvSpPr>
          <p:cNvPr id="12" name="phase-node-2">
            <a:extLst>
              <a:ext uri="{FF2B5EF4-FFF2-40B4-BE49-F238E27FC236}">
                <a16:creationId xmlns:a16="http://schemas.microsoft.com/office/drawing/2014/main" id="{86136332-5C9E-4DD3-84C8-B4A2F878EAB3}"/>
              </a:ext>
            </a:extLst>
          </p:cNvPr>
          <p:cNvSpPr>
            <a:spLocks noGrp="1"/>
          </p:cNvSpPr>
          <p:nvPr/>
        </p:nvSpPr>
        <p:spPr>
          <a:xfrm>
            <a:off x="4391025" y="2295525"/>
            <a:ext cx="381000" cy="381000"/>
          </a:xfrm>
          <a:prstGeom prst="ellipse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4305CB-8926-4D4B-B015-28E0C2F503E4}"/>
              </a:ext>
            </a:extLst>
          </p:cNvPr>
          <p:cNvSpPr>
            <a:spLocks noGrp="1"/>
          </p:cNvSpPr>
          <p:nvPr/>
        </p:nvSpPr>
        <p:spPr>
          <a:xfrm>
            <a:off x="4391025" y="23907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75" b="1" i="0">
                <a:solidFill>
                  <a:srgbClr val="071726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7172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D89626-FA74-4EAC-B8F0-B43B076DCF17}"/>
              </a:ext>
            </a:extLst>
          </p:cNvPr>
          <p:cNvSpPr>
            <a:spLocks noGrp="1"/>
          </p:cNvSpPr>
          <p:nvPr/>
        </p:nvSpPr>
        <p:spPr>
          <a:xfrm>
            <a:off x="4238625" y="286702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8A5A0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8A5A00"/>
                </a:solidFill>
                <a:latin typeface="Aptos"/>
                <a:ea typeface="Aptos"/>
                <a:cs typeface="Aptos"/>
              </a:rPr>
              <a:t>DAYS 8–14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F8ADE9-78CF-42D2-A0CD-09F69C97D8FE}"/>
              </a:ext>
            </a:extLst>
          </p:cNvPr>
          <p:cNvSpPr>
            <a:spLocks noGrp="1"/>
          </p:cNvSpPr>
          <p:nvPr/>
        </p:nvSpPr>
        <p:spPr>
          <a:xfrm>
            <a:off x="4238625" y="3171825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6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rPr>
              <a:t>Automate the guardrails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154633-F13D-4562-AD03-7F62B01C09BF}"/>
              </a:ext>
            </a:extLst>
          </p:cNvPr>
          <p:cNvSpPr>
            <a:spLocks noGrp="1"/>
          </p:cNvSpPr>
          <p:nvPr/>
        </p:nvSpPr>
        <p:spPr>
          <a:xfrm>
            <a:off x="4238625" y="3800475"/>
            <a:ext cx="30003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• Enable code, dependency, and secret scanning</a:t>
            </a:r>
          </a:p>
          <a:p>
            <a:pPr algn="l">
              <a:lnSpc>
                <a:spcPct val="108000"/>
              </a:lnSpc>
              <a:buNone/>
              <a:defRPr sz="1200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• Set severity gates and alert owners</a:t>
            </a:r>
          </a:p>
          <a:p>
            <a:pPr algn="l">
              <a:lnSpc>
                <a:spcPct val="108000"/>
              </a:lnSpc>
              <a:buNone/>
              <a:defRPr sz="1200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• Reduce workflow and token permissions</a:t>
            </a:r>
          </a:p>
        </p:txBody>
      </p:sp>
      <p:sp>
        <p:nvSpPr>
          <p:cNvPr id="17" name="phase-node-3">
            <a:extLst>
              <a:ext uri="{FF2B5EF4-FFF2-40B4-BE49-F238E27FC236}">
                <a16:creationId xmlns:a16="http://schemas.microsoft.com/office/drawing/2014/main" id="{AC8E6CE6-1D68-45D6-9396-407F590C7294}"/>
              </a:ext>
            </a:extLst>
          </p:cNvPr>
          <p:cNvSpPr>
            <a:spLocks noGrp="1"/>
          </p:cNvSpPr>
          <p:nvPr/>
        </p:nvSpPr>
        <p:spPr>
          <a:xfrm>
            <a:off x="7829550" y="2295525"/>
            <a:ext cx="381000" cy="381000"/>
          </a:xfrm>
          <a:prstGeom prst="ellipse">
            <a:avLst/>
          </a:prstGeom>
          <a:solidFill>
            <a:srgbClr val="0C2940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F54A0A-995E-4810-A59D-E9EDF3FBFD2D}"/>
              </a:ext>
            </a:extLst>
          </p:cNvPr>
          <p:cNvSpPr>
            <a:spLocks noGrp="1"/>
          </p:cNvSpPr>
          <p:nvPr/>
        </p:nvSpPr>
        <p:spPr>
          <a:xfrm>
            <a:off x="7829550" y="239077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B57695-A9C7-4E0D-B823-750B93BEEC1F}"/>
              </a:ext>
            </a:extLst>
          </p:cNvPr>
          <p:cNvSpPr>
            <a:spLocks noGrp="1"/>
          </p:cNvSpPr>
          <p:nvPr/>
        </p:nvSpPr>
        <p:spPr>
          <a:xfrm>
            <a:off x="7677150" y="2867025"/>
            <a:ext cx="2667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7774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B7774"/>
                </a:solidFill>
                <a:latin typeface="Aptos"/>
                <a:ea typeface="Aptos"/>
                <a:cs typeface="Aptos"/>
              </a:rPr>
              <a:t>DAYS 15–30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A918ED-07CF-4226-851B-7D5D05F01914}"/>
              </a:ext>
            </a:extLst>
          </p:cNvPr>
          <p:cNvSpPr>
            <a:spLocks noGrp="1"/>
          </p:cNvSpPr>
          <p:nvPr/>
        </p:nvSpPr>
        <p:spPr>
          <a:xfrm>
            <a:off x="7677150" y="3171825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8000"/>
              </a:lnSpc>
              <a:buNone/>
              <a:defRPr sz="16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rPr>
              <a:t>Make security operational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6D87A2-4507-4C13-8E17-734F9543F013}"/>
              </a:ext>
            </a:extLst>
          </p:cNvPr>
          <p:cNvSpPr>
            <a:spLocks noGrp="1"/>
          </p:cNvSpPr>
          <p:nvPr/>
        </p:nvSpPr>
        <p:spPr>
          <a:xfrm>
            <a:off x="7677150" y="3800475"/>
            <a:ext cx="300037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00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• Add CODEOWNERS and SECURITY.md</a:t>
            </a:r>
          </a:p>
          <a:p>
            <a:pPr algn="l">
              <a:lnSpc>
                <a:spcPct val="108000"/>
              </a:lnSpc>
              <a:buNone/>
              <a:defRPr sz="1200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• Set remediation SLAs and audit routines</a:t>
            </a:r>
          </a:p>
          <a:p>
            <a:pPr algn="l">
              <a:lnSpc>
                <a:spcPct val="108000"/>
              </a:lnSpc>
              <a:buNone/>
              <a:defRPr sz="1200" b="0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• Rehearse a leaked-credential response</a:t>
            </a:r>
          </a:p>
        </p:txBody>
      </p:sp>
      <p:sp>
        <p:nvSpPr>
          <p:cNvPr id="22" name="definition-done">
            <a:extLst>
              <a:ext uri="{FF2B5EF4-FFF2-40B4-BE49-F238E27FC236}">
                <a16:creationId xmlns:a16="http://schemas.microsoft.com/office/drawing/2014/main" id="{8D1E2B50-3FED-4A4F-BC92-3F0F61A9CA78}"/>
              </a:ext>
            </a:extLst>
          </p:cNvPr>
          <p:cNvSpPr>
            <a:spLocks noGrp="1"/>
          </p:cNvSpPr>
          <p:nvPr/>
        </p:nvSpPr>
        <p:spPr>
          <a:xfrm>
            <a:off x="666750" y="5229225"/>
            <a:ext cx="10858500" cy="866775"/>
          </a:xfrm>
          <a:prstGeom prst="roundRect">
            <a:avLst>
              <a:gd name="adj" fmla="val 13187"/>
            </a:avLst>
          </a:prstGeom>
          <a:solidFill>
            <a:srgbClr val="071726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795C3A-4EE5-4EA7-8C71-48CA93CA4834}"/>
              </a:ext>
            </a:extLst>
          </p:cNvPr>
          <p:cNvSpPr>
            <a:spLocks noGrp="1"/>
          </p:cNvSpPr>
          <p:nvPr/>
        </p:nvSpPr>
        <p:spPr>
          <a:xfrm>
            <a:off x="895350" y="5391150"/>
            <a:ext cx="1809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F2B84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B84B"/>
                </a:solidFill>
                <a:latin typeface="Aptos"/>
                <a:ea typeface="Aptos"/>
                <a:cs typeface="Aptos"/>
              </a:rPr>
              <a:t>DEFINITION OF DONE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6C46508-ECCD-46BD-8F05-D16AEA97AEEA}"/>
              </a:ext>
            </a:extLst>
          </p:cNvPr>
          <p:cNvSpPr>
            <a:spLocks noGrp="1"/>
          </p:cNvSpPr>
          <p:nvPr/>
        </p:nvSpPr>
        <p:spPr>
          <a:xfrm>
            <a:off x="895350" y="5734050"/>
            <a:ext cx="171450" cy="171450"/>
          </a:xfrm>
          <a:prstGeom prst="ellipse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3C2361-2D3D-4B0F-9111-4F965C119A7D}"/>
              </a:ext>
            </a:extLst>
          </p:cNvPr>
          <p:cNvSpPr>
            <a:spLocks noGrp="1"/>
          </p:cNvSpPr>
          <p:nvPr/>
        </p:nvSpPr>
        <p:spPr>
          <a:xfrm>
            <a:off x="895350" y="571500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D12224-8743-49E4-91C2-6045EA9A07EA}"/>
              </a:ext>
            </a:extLst>
          </p:cNvPr>
          <p:cNvSpPr>
            <a:spLocks noGrp="1"/>
          </p:cNvSpPr>
          <p:nvPr/>
        </p:nvSpPr>
        <p:spPr>
          <a:xfrm>
            <a:off x="1152525" y="570547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6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direct pushes to main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19BD0BF-396E-4A6B-B349-E31E9FD96BA4}"/>
              </a:ext>
            </a:extLst>
          </p:cNvPr>
          <p:cNvSpPr>
            <a:spLocks noGrp="1"/>
          </p:cNvSpPr>
          <p:nvPr/>
        </p:nvSpPr>
        <p:spPr>
          <a:xfrm>
            <a:off x="3495675" y="5734050"/>
            <a:ext cx="171450" cy="171450"/>
          </a:xfrm>
          <a:prstGeom prst="ellipse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D96673-3A74-4CA5-AAB4-2582EFE347DE}"/>
              </a:ext>
            </a:extLst>
          </p:cNvPr>
          <p:cNvSpPr>
            <a:spLocks noGrp="1"/>
          </p:cNvSpPr>
          <p:nvPr/>
        </p:nvSpPr>
        <p:spPr>
          <a:xfrm>
            <a:off x="3495675" y="571500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BA3B2E-91D8-4F68-AE4B-41C4151E86BD}"/>
              </a:ext>
            </a:extLst>
          </p:cNvPr>
          <p:cNvSpPr>
            <a:spLocks noGrp="1"/>
          </p:cNvSpPr>
          <p:nvPr/>
        </p:nvSpPr>
        <p:spPr>
          <a:xfrm>
            <a:off x="3752850" y="570547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6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No long-lived cloud keys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7AD2EC5-AAA6-46F5-A906-4B64A8337100}"/>
              </a:ext>
            </a:extLst>
          </p:cNvPr>
          <p:cNvSpPr>
            <a:spLocks noGrp="1"/>
          </p:cNvSpPr>
          <p:nvPr/>
        </p:nvSpPr>
        <p:spPr>
          <a:xfrm>
            <a:off x="6096000" y="5734050"/>
            <a:ext cx="171450" cy="171450"/>
          </a:xfrm>
          <a:prstGeom prst="ellipse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4E658F6-F61B-4CE1-AA21-D772FF72F246}"/>
              </a:ext>
            </a:extLst>
          </p:cNvPr>
          <p:cNvSpPr>
            <a:spLocks noGrp="1"/>
          </p:cNvSpPr>
          <p:nvPr/>
        </p:nvSpPr>
        <p:spPr>
          <a:xfrm>
            <a:off x="6096000" y="571500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ED584F-C21E-43C2-82DB-E12C7780F452}"/>
              </a:ext>
            </a:extLst>
          </p:cNvPr>
          <p:cNvSpPr>
            <a:spLocks noGrp="1"/>
          </p:cNvSpPr>
          <p:nvPr/>
        </p:nvSpPr>
        <p:spPr>
          <a:xfrm>
            <a:off x="6353175" y="570547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6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Every finding has an owner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12C21BF-CC25-4474-AEBC-D4DB66E11177}"/>
              </a:ext>
            </a:extLst>
          </p:cNvPr>
          <p:cNvSpPr>
            <a:spLocks noGrp="1"/>
          </p:cNvSpPr>
          <p:nvPr/>
        </p:nvSpPr>
        <p:spPr>
          <a:xfrm>
            <a:off x="8696325" y="5734050"/>
            <a:ext cx="171450" cy="171450"/>
          </a:xfrm>
          <a:prstGeom prst="ellipse">
            <a:avLst/>
          </a:prstGeom>
          <a:solidFill>
            <a:srgbClr val="18A6A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456AB90-5594-442E-AA44-2CC7F18AD66F}"/>
              </a:ext>
            </a:extLst>
          </p:cNvPr>
          <p:cNvSpPr>
            <a:spLocks noGrp="1"/>
          </p:cNvSpPr>
          <p:nvPr/>
        </p:nvSpPr>
        <p:spPr>
          <a:xfrm>
            <a:off x="8696325" y="5715000"/>
            <a:ext cx="171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4000"/>
              </a:lnSpc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91380-9E6F-490C-BAB2-EA9CDA862A63}"/>
              </a:ext>
            </a:extLst>
          </p:cNvPr>
          <p:cNvSpPr>
            <a:spLocks noGrp="1"/>
          </p:cNvSpPr>
          <p:nvPr/>
        </p:nvSpPr>
        <p:spPr>
          <a:xfrm>
            <a:off x="8953500" y="5705475"/>
            <a:ext cx="2190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1163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Every exception expires</a:t>
            </a:r>
          </a:p>
        </p:txBody>
      </p:sp>
      <p:sp>
        <p:nvSpPr>
          <p:cNvPr id="37" name="footer-rule-8">
            <a:extLst>
              <a:ext uri="{FF2B5EF4-FFF2-40B4-BE49-F238E27FC236}">
                <a16:creationId xmlns:a16="http://schemas.microsoft.com/office/drawing/2014/main" id="{CEA92CCC-256D-44C9-B91A-94F0E84FAC60}"/>
              </a:ext>
            </a:extLst>
          </p:cNvPr>
          <p:cNvSpPr>
            <a:spLocks noGrp="1"/>
          </p:cNvSpPr>
          <p:nvPr/>
        </p:nvSpPr>
        <p:spPr>
          <a:xfrm>
            <a:off x="609600" y="6638925"/>
            <a:ext cx="10972800" cy="9525"/>
          </a:xfrm>
          <a:prstGeom prst="rect">
            <a:avLst/>
          </a:prstGeom>
          <a:solidFill>
            <a:srgbClr val="CFD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page-footer-8">
            <a:extLst>
              <a:ext uri="{FF2B5EF4-FFF2-40B4-BE49-F238E27FC236}">
                <a16:creationId xmlns:a16="http://schemas.microsoft.com/office/drawing/2014/main" id="{0226953E-BD83-4846-A1F0-3EC6FC5DDB99}"/>
              </a:ext>
            </a:extLst>
          </p:cNvPr>
          <p:cNvSpPr>
            <a:spLocks noGrp="1"/>
          </p:cNvSpPr>
          <p:nvPr/>
        </p:nvSpPr>
        <p:spPr>
          <a:xfrm>
            <a:off x="11239500" y="6677025"/>
            <a:ext cx="342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4000"/>
              </a:lnSpc>
              <a:buNone/>
              <a:defRPr sz="750" b="1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66425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ection-9">
            <a:extLst>
              <a:ext uri="{FF2B5EF4-FFF2-40B4-BE49-F238E27FC236}">
                <a16:creationId xmlns:a16="http://schemas.microsoft.com/office/drawing/2014/main" id="{617D3669-33EA-4E72-88D1-5C6D008743CF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rPr>
              <a:t>REFERENCES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18D00570-42AF-4194-9F3A-8E031C640622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rPr>
              <a:t>Standards and repository governance</a:t>
            </a:r>
          </a:p>
        </p:txBody>
      </p:sp>
      <p:sp>
        <p:nvSpPr>
          <p:cNvPr id="3" name="accent-9">
            <a:extLst>
              <a:ext uri="{FF2B5EF4-FFF2-40B4-BE49-F238E27FC236}">
                <a16:creationId xmlns:a16="http://schemas.microsoft.com/office/drawing/2014/main" id="{ADAE3AA6-8DEE-4C6E-A92B-35AE1AEAD506}"/>
              </a:ext>
            </a:extLst>
          </p:cNvPr>
          <p:cNvSpPr>
            <a:spLocks noGrp="1"/>
          </p:cNvSpPr>
          <p:nvPr/>
        </p:nvSpPr>
        <p:spPr>
          <a:xfrm>
            <a:off x="609600" y="1304925"/>
            <a:ext cx="723900" cy="47625"/>
          </a:xfrm>
          <a:prstGeom prst="rect">
            <a:avLst/>
          </a:prstGeom>
          <a:solidFill>
            <a:srgbClr val="F2B84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6E3A68-0C9C-4ACE-A2F9-3CB54D8AAA32}"/>
              </a:ext>
            </a:extLst>
          </p:cNvPr>
          <p:cNvSpPr>
            <a:spLocks noGrp="1"/>
          </p:cNvSpPr>
          <p:nvPr/>
        </p:nvSpPr>
        <p:spPr>
          <a:xfrm>
            <a:off x="1123950" y="1676400"/>
            <a:ext cx="103060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163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637"/>
                </a:solidFill>
                <a:latin typeface="Aptos"/>
                <a:ea typeface="Aptos"/>
                <a:cs typeface="Aptos"/>
              </a:rPr>
              <a:t>Cybersecurity and Infrastructure Security Agency, &amp; National Security Agency. (2022). Securing the software supply chain: Recommended practices guide for developers.</a:t>
            </a:r>
            <a:b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</a:rPr>
            </a:br>
            <a: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  <a:hlinkClick r:id="rId3"/>
              </a:rPr>
              <a:t>https://www.cisa.gov/sites/default/files/publications/ESF_SECURING_THE_SOFTWARE_SUPPLY_CHAIN_DEVELOPERS.PDF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D49460-3DB6-4939-A1C2-1F70D2D9090D}"/>
              </a:ext>
            </a:extLst>
          </p:cNvPr>
          <p:cNvSpPr>
            <a:spLocks noGrp="1"/>
          </p:cNvSpPr>
          <p:nvPr/>
        </p:nvSpPr>
        <p:spPr>
          <a:xfrm>
            <a:off x="1123950" y="2686050"/>
            <a:ext cx="103060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163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637"/>
                </a:solidFill>
                <a:latin typeface="Aptos"/>
                <a:ea typeface="Aptos"/>
                <a:cs typeface="Aptos"/>
              </a:rPr>
              <a:t>Souppaya, M., &amp; Scarfone, K. (2022). Secure Software Development Framework (SSDF) version 1.1 (NIST SP 800-218). National Institute of Standards and Technology.</a:t>
            </a:r>
            <a:b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</a:rPr>
            </a:br>
            <a: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  <a:hlinkClick r:id="rId4"/>
              </a:rPr>
              <a:t>https://doi.org/10.6028/NIST.SP.800-218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BF65E9-7D72-420C-BCBB-FB44E81FFE18}"/>
              </a:ext>
            </a:extLst>
          </p:cNvPr>
          <p:cNvSpPr>
            <a:spLocks noGrp="1"/>
          </p:cNvSpPr>
          <p:nvPr/>
        </p:nvSpPr>
        <p:spPr>
          <a:xfrm>
            <a:off x="1123950" y="3695700"/>
            <a:ext cx="10306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163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637"/>
                </a:solidFill>
                <a:latin typeface="Aptos"/>
                <a:ea typeface="Aptos"/>
                <a:cs typeface="Aptos"/>
              </a:rPr>
              <a:t>GitHub. (n.d.). Protecting against security threats. GitHub Docs.</a:t>
            </a:r>
            <a:b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</a:rPr>
            </a:br>
            <a: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  <a:hlinkClick r:id="rId5"/>
              </a:rPr>
              <a:t>https://docs.github.com/en/enterprise-cloud@latest/code-security/tutorials/secure-your-organization/protect-against-threats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A2F785-A86B-4DFB-9D86-9E66D73A409C}"/>
              </a:ext>
            </a:extLst>
          </p:cNvPr>
          <p:cNvSpPr>
            <a:spLocks noGrp="1"/>
          </p:cNvSpPr>
          <p:nvPr/>
        </p:nvSpPr>
        <p:spPr>
          <a:xfrm>
            <a:off x="1123950" y="4572000"/>
            <a:ext cx="103060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163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637"/>
                </a:solidFill>
                <a:latin typeface="Aptos"/>
                <a:ea typeface="Aptos"/>
                <a:cs typeface="Aptos"/>
              </a:rPr>
              <a:t>GitHub. (n.d.). About protected branches. GitHub Docs.</a:t>
            </a:r>
            <a:b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</a:rPr>
            </a:br>
            <a: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  <a:hlinkClick r:id="rId6"/>
              </a:rPr>
              <a:t>https://docs.github.com/repositories/configuring-branches-and-merges-in-your-repository/managing-protected-branches/about-protected-branches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BFFC99-D690-43A4-9487-23C636866572}"/>
              </a:ext>
            </a:extLst>
          </p:cNvPr>
          <p:cNvSpPr>
            <a:spLocks noGrp="1"/>
          </p:cNvSpPr>
          <p:nvPr/>
        </p:nvSpPr>
        <p:spPr>
          <a:xfrm>
            <a:off x="1123950" y="5353050"/>
            <a:ext cx="10306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163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637"/>
                </a:solidFill>
                <a:latin typeface="Aptos"/>
                <a:ea typeface="Aptos"/>
                <a:cs typeface="Aptos"/>
              </a:rPr>
              <a:t>GitHub. (n.d.). About code owners. GitHub Docs.</a:t>
            </a:r>
            <a:b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</a:rPr>
            </a:br>
            <a: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  <a:hlinkClick r:id="rId7"/>
              </a:rPr>
              <a:t>https://docs.github.com/repositories/managing-your-repositorys-settings-and-features/customizing-your-repository/about-code-owners</a:t>
            </a:r>
          </a:p>
        </p:txBody>
      </p:sp>
      <p:sp>
        <p:nvSpPr>
          <p:cNvPr id="16" name="footer-rule-9">
            <a:extLst>
              <a:ext uri="{FF2B5EF4-FFF2-40B4-BE49-F238E27FC236}">
                <a16:creationId xmlns:a16="http://schemas.microsoft.com/office/drawing/2014/main" id="{BA4BDBA7-E413-4C94-93B8-B6556EAC0571}"/>
              </a:ext>
            </a:extLst>
          </p:cNvPr>
          <p:cNvSpPr>
            <a:spLocks noGrp="1"/>
          </p:cNvSpPr>
          <p:nvPr/>
        </p:nvSpPr>
        <p:spPr>
          <a:xfrm>
            <a:off x="609600" y="6638925"/>
            <a:ext cx="10972800" cy="9525"/>
          </a:xfrm>
          <a:prstGeom prst="rect">
            <a:avLst/>
          </a:prstGeom>
          <a:solidFill>
            <a:srgbClr val="CFD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page-footer-9">
            <a:extLst>
              <a:ext uri="{FF2B5EF4-FFF2-40B4-BE49-F238E27FC236}">
                <a16:creationId xmlns:a16="http://schemas.microsoft.com/office/drawing/2014/main" id="{358B6C14-75AD-46C6-9B72-A2F15B60BE8E}"/>
              </a:ext>
            </a:extLst>
          </p:cNvPr>
          <p:cNvSpPr>
            <a:spLocks noGrp="1"/>
          </p:cNvSpPr>
          <p:nvPr/>
        </p:nvSpPr>
        <p:spPr>
          <a:xfrm>
            <a:off x="11239500" y="6677025"/>
            <a:ext cx="342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4000"/>
              </a:lnSpc>
              <a:buNone/>
              <a:defRPr sz="750" b="1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6835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ection-10">
            <a:extLst>
              <a:ext uri="{FF2B5EF4-FFF2-40B4-BE49-F238E27FC236}">
                <a16:creationId xmlns:a16="http://schemas.microsoft.com/office/drawing/2014/main" id="{FB101BD7-2CC1-4D2F-B720-64E7FE990AAF}"/>
              </a:ext>
            </a:extLst>
          </p:cNvPr>
          <p:cNvSpPr>
            <a:spLocks noGrp="1"/>
          </p:cNvSpPr>
          <p:nvPr/>
        </p:nvSpPr>
        <p:spPr>
          <a:xfrm>
            <a:off x="609600" y="333375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4000"/>
              </a:lnSpc>
              <a:buNone/>
              <a:def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0B7774"/>
                </a:solidFill>
                <a:latin typeface="Aptos Display"/>
                <a:ea typeface="Aptos Display"/>
                <a:cs typeface="Aptos Display"/>
              </a:rPr>
              <a:t>REFERENCES</a:t>
            </a:r>
          </a:p>
        </p:txBody>
      </p:sp>
      <p:sp>
        <p:nvSpPr>
          <p:cNvPr id="2" name="title-10">
            <a:extLst>
              <a:ext uri="{FF2B5EF4-FFF2-40B4-BE49-F238E27FC236}">
                <a16:creationId xmlns:a16="http://schemas.microsoft.com/office/drawing/2014/main" id="{D39D2923-1EA9-45A6-8DBE-B9AD813BB388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9906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95000"/>
              </a:lnSpc>
              <a:buNone/>
              <a:def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102637"/>
                </a:solidFill>
                <a:latin typeface="Aptos Display"/>
                <a:ea typeface="Aptos Display"/>
                <a:cs typeface="Aptos Display"/>
              </a:rPr>
              <a:t>Implementation guidance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E79B2A-17F0-4A70-8F2B-72A2C5D0DD15}"/>
              </a:ext>
            </a:extLst>
          </p:cNvPr>
          <p:cNvSpPr>
            <a:spLocks noGrp="1"/>
          </p:cNvSpPr>
          <p:nvPr/>
        </p:nvSpPr>
        <p:spPr>
          <a:xfrm>
            <a:off x="1123950" y="1571625"/>
            <a:ext cx="10306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163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637"/>
                </a:solidFill>
                <a:latin typeface="Aptos"/>
                <a:ea typeface="Aptos"/>
                <a:cs typeface="Aptos"/>
              </a:rPr>
              <a:t>GitHub. (n.d.). Code scanning with CodeQL. GitHub Docs.</a:t>
            </a:r>
            <a:b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</a:rPr>
            </a:br>
            <a: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  <a:hlinkClick r:id="rId3"/>
              </a:rPr>
              <a:t>https://docs.github.com/en/code-security/concepts/code-scanning/codeql/codeql-code-scanning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5F7353-0CD6-4A65-8E8B-A832A8706694}"/>
              </a:ext>
            </a:extLst>
          </p:cNvPr>
          <p:cNvSpPr>
            <a:spLocks noGrp="1"/>
          </p:cNvSpPr>
          <p:nvPr/>
        </p:nvSpPr>
        <p:spPr>
          <a:xfrm>
            <a:off x="1123950" y="2324100"/>
            <a:ext cx="10306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163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637"/>
                </a:solidFill>
                <a:latin typeface="Aptos"/>
                <a:ea typeface="Aptos"/>
                <a:cs typeface="Aptos"/>
              </a:rPr>
              <a:t>GitHub. (n.d.). Dependabot security updates. GitHub Docs.</a:t>
            </a:r>
            <a:b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</a:rPr>
            </a:br>
            <a: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  <a:hlinkClick r:id="rId4"/>
              </a:rPr>
              <a:t>https://docs.github.com/en/code-security/concepts/supply-chain-security/dependabot-security-updates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F35382-073E-4EAD-92AC-87E0823B18DD}"/>
              </a:ext>
            </a:extLst>
          </p:cNvPr>
          <p:cNvSpPr>
            <a:spLocks noGrp="1"/>
          </p:cNvSpPr>
          <p:nvPr/>
        </p:nvSpPr>
        <p:spPr>
          <a:xfrm>
            <a:off x="1123950" y="3076575"/>
            <a:ext cx="10306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163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637"/>
                </a:solidFill>
                <a:latin typeface="Aptos"/>
                <a:ea typeface="Aptos"/>
                <a:cs typeface="Aptos"/>
              </a:rPr>
              <a:t>GitHub. (n.d.). Push protection. GitHub Docs.</a:t>
            </a:r>
            <a:b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</a:rPr>
            </a:br>
            <a: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  <a:hlinkClick r:id="rId5"/>
              </a:rPr>
              <a:t>https://docs.github.com/en/code-security/concepts/secret-security/push-protection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C5226A-BF02-4C4F-AA2E-AE56DFE63091}"/>
              </a:ext>
            </a:extLst>
          </p:cNvPr>
          <p:cNvSpPr>
            <a:spLocks noGrp="1"/>
          </p:cNvSpPr>
          <p:nvPr/>
        </p:nvSpPr>
        <p:spPr>
          <a:xfrm>
            <a:off x="1123950" y="3829050"/>
            <a:ext cx="10306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163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637"/>
                </a:solidFill>
                <a:latin typeface="Aptos"/>
                <a:ea typeface="Aptos"/>
                <a:cs typeface="Aptos"/>
              </a:rPr>
              <a:t>GitHub. (n.d.). Secure use reference. GitHub Docs.</a:t>
            </a:r>
            <a:b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</a:rPr>
            </a:br>
            <a: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  <a:hlinkClick r:id="rId6"/>
              </a:rPr>
              <a:t>https://docs.github.com/en/actions/reference/security/secure-use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587CB7-81CF-4189-9DCF-F594C6F50258}"/>
              </a:ext>
            </a:extLst>
          </p:cNvPr>
          <p:cNvSpPr>
            <a:spLocks noGrp="1"/>
          </p:cNvSpPr>
          <p:nvPr/>
        </p:nvSpPr>
        <p:spPr>
          <a:xfrm>
            <a:off x="1123950" y="4581525"/>
            <a:ext cx="10306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163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>
                <a:solidFill>
                  <a:srgbClr val="102637"/>
                </a:solidFill>
                <a:latin typeface="Aptos"/>
                <a:ea typeface="Aptos"/>
                <a:cs typeface="Aptos"/>
              </a:rPr>
              <a:t>GitHub. (n.d.). Adding a security policy to your repository. GitHub Docs.</a:t>
            </a:r>
            <a:b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</a:rPr>
            </a:br>
            <a:r>
              <a:rPr sz="1163" u="sng">
                <a:solidFill>
                  <a:srgbClr val="102637"/>
                </a:solidFill>
                <a:latin typeface="Aptos"/>
                <a:ea typeface="Aptos"/>
                <a:cs typeface="Aptos"/>
                <a:hlinkClick r:id="rId7"/>
              </a:rPr>
              <a:t>https://docs.github.com/code-security/getting-started/adding-a-security-policy-to-your-repository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E38389-B81E-40B9-A09D-3C21D9D0853C}"/>
              </a:ext>
            </a:extLst>
          </p:cNvPr>
          <p:cNvSpPr>
            <a:spLocks noGrp="1"/>
          </p:cNvSpPr>
          <p:nvPr/>
        </p:nvSpPr>
        <p:spPr>
          <a:xfrm>
            <a:off x="1123950" y="5334000"/>
            <a:ext cx="103060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3000"/>
              </a:lnSpc>
              <a:buNone/>
              <a:defRPr sz="1163">
                <a:solidFill>
                  <a:srgbClr val="102637"/>
                </a:solidFill>
                <a:latin typeface="Aptos"/>
                <a:ea typeface="Aptos"/>
                <a:cs typeface="Aptos"/>
              </a:defRPr>
            </a:pPr>
            <a:r>
              <a:rPr sz="1163" dirty="0">
                <a:solidFill>
                  <a:srgbClr val="102637"/>
                </a:solidFill>
                <a:latin typeface="Aptos"/>
                <a:ea typeface="Aptos"/>
                <a:cs typeface="Aptos"/>
              </a:rPr>
              <a:t>GitHub. (n.d.). Configuring private vulnerability reporting for a repository. GitHub Docs.</a:t>
            </a:r>
            <a:br>
              <a:rPr sz="1163" u="sng" dirty="0">
                <a:solidFill>
                  <a:srgbClr val="102637"/>
                </a:solidFill>
                <a:latin typeface="Aptos"/>
                <a:ea typeface="Aptos"/>
                <a:cs typeface="Aptos"/>
              </a:rPr>
            </a:br>
            <a:r>
              <a:rPr sz="1163" u="sng" dirty="0">
                <a:solidFill>
                  <a:srgbClr val="102637"/>
                </a:solidFill>
                <a:latin typeface="Aptos"/>
                <a:ea typeface="Aptos"/>
                <a:cs typeface="Aptos"/>
                <a:hlinkClick r:id="rId8"/>
              </a:rPr>
              <a:t>https://docs.github.com/code-security/security-advisories/working-with-repository-security-advisories/configuring-private-vulnerability-reporting-for-a-repository</a:t>
            </a:r>
          </a:p>
        </p:txBody>
      </p:sp>
      <p:sp>
        <p:nvSpPr>
          <p:cNvPr id="18" name="footer-rule-10">
            <a:extLst>
              <a:ext uri="{FF2B5EF4-FFF2-40B4-BE49-F238E27FC236}">
                <a16:creationId xmlns:a16="http://schemas.microsoft.com/office/drawing/2014/main" id="{84E1F85F-69F0-4E9B-8E5A-6884EBC87C45}"/>
              </a:ext>
            </a:extLst>
          </p:cNvPr>
          <p:cNvSpPr>
            <a:spLocks noGrp="1"/>
          </p:cNvSpPr>
          <p:nvPr/>
        </p:nvSpPr>
        <p:spPr>
          <a:xfrm>
            <a:off x="609600" y="6638925"/>
            <a:ext cx="10972800" cy="9525"/>
          </a:xfrm>
          <a:prstGeom prst="rect">
            <a:avLst/>
          </a:prstGeom>
          <a:solidFill>
            <a:srgbClr val="CFDCE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page-footer-10">
            <a:extLst>
              <a:ext uri="{FF2B5EF4-FFF2-40B4-BE49-F238E27FC236}">
                <a16:creationId xmlns:a16="http://schemas.microsoft.com/office/drawing/2014/main" id="{38EC3E85-97E3-4920-BE6C-18655C70B35B}"/>
              </a:ext>
            </a:extLst>
          </p:cNvPr>
          <p:cNvSpPr>
            <a:spLocks noGrp="1"/>
          </p:cNvSpPr>
          <p:nvPr/>
        </p:nvSpPr>
        <p:spPr>
          <a:xfrm>
            <a:off x="11239500" y="6677025"/>
            <a:ext cx="3429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4000"/>
              </a:lnSpc>
              <a:buNone/>
              <a:defRPr sz="750" b="1" i="0">
                <a:solidFill>
                  <a:srgbClr val="5A6D7B"/>
                </a:solidFill>
                <a:latin typeface="Aptos"/>
                <a:ea typeface="Aptos"/>
                <a:cs typeface="Aptos"/>
              </a:defRPr>
            </a:pPr>
            <a:r>
              <a:rPr sz="750" b="1" i="0">
                <a:solidFill>
                  <a:srgbClr val="5A6D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6146200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1468</Words>
  <Application>Microsoft Office PowerPoint</Application>
  <DocSecurity>0</DocSecurity>
  <PresentationFormat>Widescreen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Courier New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Jordan Dardar</cp:lastModifiedBy>
  <cp:revision>1</cp:revision>
  <dcterms:created xsi:type="dcterms:W3CDTF">2026-07-20T20:43:17Z</dcterms:created>
  <dcterms:modified xsi:type="dcterms:W3CDTF">2026-07-20T21:02:29Z</dcterms:modified>
</cp:coreProperties>
</file>